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image" Target="../media/image-1-4.png"/><Relationship Id="rId5" Type="http://schemas.openxmlformats.org/officeDocument/2006/relationships/image" Target="../media/image-1-5.svg"/><Relationship Id="rId6" Type="http://schemas.openxmlformats.org/officeDocument/2006/relationships/image" Target="../media/image-1-6.png"/><Relationship Id="rId7" Type="http://schemas.openxmlformats.org/officeDocument/2006/relationships/image" Target="../media/image-1-7.svg"/><Relationship Id="rId8" Type="http://schemas.openxmlformats.org/officeDocument/2006/relationships/image" Target="../media/image-1-8.png"/><Relationship Id="rId9" Type="http://schemas.openxmlformats.org/officeDocument/2006/relationships/image" Target="../media/image-1-9.svg"/><Relationship Id="rId10" Type="http://schemas.openxmlformats.org/officeDocument/2006/relationships/image" Target="../media/image-1-10.png"/><Relationship Id="rId11" Type="http://schemas.openxmlformats.org/officeDocument/2006/relationships/image" Target="../media/image-1-11.svg"/><Relationship Id="rId12" Type="http://schemas.openxmlformats.org/officeDocument/2006/relationships/image" Target="../media/image-1-12.png"/><Relationship Id="rId13" Type="http://schemas.openxmlformats.org/officeDocument/2006/relationships/image" Target="../media/image-1-13.svg"/><Relationship Id="rId14" Type="http://schemas.openxmlformats.org/officeDocument/2006/relationships/image" Target="../media/image-1-14.png"/><Relationship Id="rId15" Type="http://schemas.openxmlformats.org/officeDocument/2006/relationships/image" Target="../media/image-1-15.sv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image" Target="../media/image-5-13.png"/><Relationship Id="rId14" Type="http://schemas.openxmlformats.org/officeDocument/2006/relationships/image" Target="../media/image-5-14.svg"/><Relationship Id="rId15" Type="http://schemas.openxmlformats.org/officeDocument/2006/relationships/image" Target="../media/image-5-15.png"/><Relationship Id="rId16" Type="http://schemas.openxmlformats.org/officeDocument/2006/relationships/image" Target="../media/image-5-16.svg"/><Relationship Id="rId17" Type="http://schemas.openxmlformats.org/officeDocument/2006/relationships/image" Target="../media/image-5-17.png"/><Relationship Id="rId18" Type="http://schemas.openxmlformats.org/officeDocument/2006/relationships/image" Target="../media/image-5-18.sv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image" Target="../media/image-6-10.png"/><Relationship Id="rId11" Type="http://schemas.openxmlformats.org/officeDocument/2006/relationships/image" Target="../media/image-6-11.sv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" name="Shape 1"/>
          <p:cNvSpPr/>
          <p:nvPr/>
        </p:nvSpPr>
        <p:spPr>
          <a:xfrm>
            <a:off x="366713" y="205271"/>
            <a:ext cx="8410575" cy="309562"/>
          </a:xfrm>
          <a:prstGeom prst="rect">
            <a:avLst/>
          </a:prstGeom>
          <a:ln/>
        </p:spPr>
      </p:sp>
      <p:sp>
        <p:nvSpPr>
          <p:cNvPr id="4" name="Shape 2"/>
          <p:cNvSpPr/>
          <p:nvPr/>
        </p:nvSpPr>
        <p:spPr>
          <a:xfrm>
            <a:off x="366303" y="206239"/>
            <a:ext cx="200025" cy="200025"/>
          </a:xfrm>
          <a:prstGeom prst="roundRect">
            <a:avLst>
              <a:gd name="adj" fmla="val 18286"/>
            </a:avLst>
          </a:prstGeom>
          <a:solidFill>
            <a:srgbClr val="0D948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0989" y="250924"/>
            <a:ext cx="110579" cy="11057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35" y="238199"/>
            <a:ext cx="127286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17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AppSec Program</a:t>
            </a:r>
            <a:endParaRPr lang="en-US" sz="860" dirty="0"/>
          </a:p>
        </p:txBody>
      </p:sp>
      <p:sp>
        <p:nvSpPr>
          <p:cNvPr id="7" name="Text 4"/>
          <p:cNvSpPr/>
          <p:nvPr/>
        </p:nvSpPr>
        <p:spPr>
          <a:xfrm>
            <a:off x="6794748" y="247204"/>
            <a:ext cx="176564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BUSINESS REVIEW</a:t>
            </a:r>
            <a:endParaRPr lang="en-US" sz="720" dirty="0"/>
          </a:p>
        </p:txBody>
      </p:sp>
      <p:sp>
        <p:nvSpPr>
          <p:cNvPr id="8" name="Text 5"/>
          <p:cNvSpPr/>
          <p:nvPr/>
        </p:nvSpPr>
        <p:spPr>
          <a:xfrm>
            <a:off x="8291810" y="247204"/>
            <a:ext cx="68952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JULY 2026</a:t>
            </a:r>
            <a:endParaRPr lang="en-US" sz="720" dirty="0"/>
          </a:p>
        </p:txBody>
      </p:sp>
      <p:sp>
        <p:nvSpPr>
          <p:cNvPr id="9" name="Text 6"/>
          <p:cNvSpPr/>
          <p:nvPr/>
        </p:nvSpPr>
        <p:spPr>
          <a:xfrm>
            <a:off x="365745" y="1512168"/>
            <a:ext cx="172704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720" b="1" spc="72" kern="0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 SECURITY</a:t>
            </a:r>
            <a:endParaRPr lang="en-US" sz="720" dirty="0"/>
          </a:p>
        </p:txBody>
      </p:sp>
      <p:sp>
        <p:nvSpPr>
          <p:cNvPr id="10" name="Text 7"/>
          <p:cNvSpPr/>
          <p:nvPr/>
        </p:nvSpPr>
        <p:spPr>
          <a:xfrm>
            <a:off x="365745" y="1693069"/>
            <a:ext cx="4036479" cy="461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3020" b="1" spc="-60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AppSec Monthly</a:t>
            </a:r>
            <a:endParaRPr lang="en-US" sz="3020" dirty="0"/>
          </a:p>
        </p:txBody>
      </p:sp>
      <p:sp>
        <p:nvSpPr>
          <p:cNvPr id="11" name="Text 8"/>
          <p:cNvSpPr/>
          <p:nvPr/>
        </p:nvSpPr>
        <p:spPr>
          <a:xfrm>
            <a:off x="365745" y="2115517"/>
            <a:ext cx="4071402" cy="461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3020" b="1" spc="-60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Review</a:t>
            </a:r>
            <a:endParaRPr lang="en-US" sz="3020" dirty="0"/>
          </a:p>
        </p:txBody>
      </p:sp>
      <p:sp>
        <p:nvSpPr>
          <p:cNvPr id="12" name="Text 9"/>
          <p:cNvSpPr/>
          <p:nvPr/>
        </p:nvSpPr>
        <p:spPr>
          <a:xfrm>
            <a:off x="365745" y="2653159"/>
            <a:ext cx="500289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418"/>
              </a:spcAft>
              <a:buNone/>
            </a:pPr>
            <a:r>
              <a:rPr lang="en-US" sz="94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July 2026 — Risk posture, vulnerability metrics, and program status</a:t>
            </a:r>
            <a:endParaRPr lang="en-US" sz="940" dirty="0"/>
          </a:p>
        </p:txBody>
      </p:sp>
      <p:sp>
        <p:nvSpPr>
          <p:cNvPr id="13" name="Shape 10"/>
          <p:cNvSpPr/>
          <p:nvPr/>
        </p:nvSpPr>
        <p:spPr>
          <a:xfrm>
            <a:off x="364703" y="2996803"/>
            <a:ext cx="1538287" cy="747712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47625" dist="9525" dir="5400000">
              <a:srgbClr val="1E3A5F">
                <a:alpha val="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98500" y="3114229"/>
            <a:ext cx="910962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43"/>
              </a:spcAft>
              <a:buNone/>
            </a:pPr>
            <a:r>
              <a:rPr lang="en-US" sz="580" b="1" spc="23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VULNS TRACKED</a:t>
            </a:r>
            <a:endParaRPr lang="en-US" sz="580" dirty="0"/>
          </a:p>
        </p:txBody>
      </p:sp>
      <p:sp>
        <p:nvSpPr>
          <p:cNvPr id="15" name="Text 12"/>
          <p:cNvSpPr/>
          <p:nvPr/>
        </p:nvSpPr>
        <p:spPr>
          <a:xfrm>
            <a:off x="498500" y="3216622"/>
            <a:ext cx="983709" cy="309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1,284</a:t>
            </a:r>
            <a:endParaRPr lang="en-US" sz="2020" dirty="0"/>
          </a:p>
        </p:txBody>
      </p:sp>
      <p:sp>
        <p:nvSpPr>
          <p:cNvPr id="16" name="Text 13"/>
          <p:cNvSpPr/>
          <p:nvPr/>
        </p:nvSpPr>
        <p:spPr>
          <a:xfrm>
            <a:off x="498500" y="3536454"/>
            <a:ext cx="529813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03"/>
              </a:spcBef>
              <a:buNone/>
            </a:pPr>
            <a:r>
              <a:rPr lang="en-US" sz="5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open</a:t>
            </a:r>
            <a:endParaRPr lang="en-US" sz="580" dirty="0"/>
          </a:p>
        </p:txBody>
      </p:sp>
      <p:sp>
        <p:nvSpPr>
          <p:cNvPr id="17" name="Shape 14"/>
          <p:cNvSpPr/>
          <p:nvPr/>
        </p:nvSpPr>
        <p:spPr>
          <a:xfrm>
            <a:off x="2010594" y="2996803"/>
            <a:ext cx="1538287" cy="747712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47625" dist="9525" dir="5400000">
              <a:srgbClr val="1E3A5F">
                <a:alpha val="6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2144390" y="3114229"/>
            <a:ext cx="705006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43"/>
              </a:spcAft>
              <a:buNone/>
            </a:pPr>
            <a:r>
              <a:rPr lang="en-US" sz="580" b="1" spc="23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REMEDIATED</a:t>
            </a:r>
            <a:endParaRPr lang="en-US" sz="580" dirty="0"/>
          </a:p>
        </p:txBody>
      </p:sp>
      <p:sp>
        <p:nvSpPr>
          <p:cNvPr id="19" name="Text 16"/>
          <p:cNvSpPr/>
          <p:nvPr/>
        </p:nvSpPr>
        <p:spPr>
          <a:xfrm>
            <a:off x="2144390" y="3216622"/>
            <a:ext cx="506499" cy="309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2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</a:t>
            </a:r>
            <a:endParaRPr lang="en-US" sz="2020" dirty="0"/>
          </a:p>
        </p:txBody>
      </p:sp>
      <p:sp>
        <p:nvSpPr>
          <p:cNvPr id="20" name="Text 17"/>
          <p:cNvSpPr/>
          <p:nvPr/>
        </p:nvSpPr>
        <p:spPr>
          <a:xfrm>
            <a:off x="2144390" y="3536454"/>
            <a:ext cx="957977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03"/>
              </a:spcBef>
              <a:buNone/>
            </a:pPr>
            <a:r>
              <a:rPr lang="en-US" sz="5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Crit/High this month</a:t>
            </a:r>
            <a:endParaRPr lang="en-US" sz="580" dirty="0"/>
          </a:p>
        </p:txBody>
      </p:sp>
      <p:sp>
        <p:nvSpPr>
          <p:cNvPr id="21" name="Shape 18"/>
          <p:cNvSpPr/>
          <p:nvPr/>
        </p:nvSpPr>
        <p:spPr>
          <a:xfrm>
            <a:off x="3656484" y="2996803"/>
            <a:ext cx="1538287" cy="747712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4763">
            <a:solidFill>
              <a:srgbClr val="FCD34D"/>
            </a:solidFill>
            <a:prstDash val="solid"/>
          </a:ln>
          <a:effectLst>
            <a:outerShdw sx="100000" sy="100000" kx="0" ky="0" algn="bl" rotWithShape="0" blurRad="47625" dist="9525" dir="5400000">
              <a:srgbClr val="1E3A5F">
                <a:alpha val="6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3790280" y="3114229"/>
            <a:ext cx="660894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43"/>
              </a:spcAft>
              <a:buNone/>
            </a:pPr>
            <a:r>
              <a:rPr lang="en-US" sz="580" b="1" spc="23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SCORE</a:t>
            </a:r>
            <a:endParaRPr lang="en-US" sz="580" dirty="0"/>
          </a:p>
        </p:txBody>
      </p:sp>
      <p:sp>
        <p:nvSpPr>
          <p:cNvPr id="23" name="Text 20"/>
          <p:cNvSpPr/>
          <p:nvPr/>
        </p:nvSpPr>
        <p:spPr>
          <a:xfrm>
            <a:off x="3790280" y="3216622"/>
            <a:ext cx="489570" cy="309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2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62</a:t>
            </a:r>
            <a:endParaRPr lang="en-US" sz="2020" dirty="0"/>
          </a:p>
        </p:txBody>
      </p:sp>
      <p:sp>
        <p:nvSpPr>
          <p:cNvPr id="24" name="Text 21"/>
          <p:cNvSpPr/>
          <p:nvPr/>
        </p:nvSpPr>
        <p:spPr>
          <a:xfrm>
            <a:off x="4122911" y="3359497"/>
            <a:ext cx="35316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/100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3790280" y="3536454"/>
            <a:ext cx="498760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03"/>
              </a:spcBef>
              <a:buNone/>
            </a:pPr>
            <a:r>
              <a:rPr lang="en-US" sz="58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Moderate</a:t>
            </a:r>
            <a:endParaRPr lang="en-US" sz="580" dirty="0"/>
          </a:p>
        </p:txBody>
      </p:sp>
      <p:sp>
        <p:nvSpPr>
          <p:cNvPr id="26" name="Shape 23"/>
          <p:cNvSpPr/>
          <p:nvPr/>
        </p:nvSpPr>
        <p:spPr>
          <a:xfrm>
            <a:off x="5559177" y="1542752"/>
            <a:ext cx="3219450" cy="1390650"/>
          </a:xfrm>
          <a:prstGeom prst="roundRect">
            <a:avLst>
              <a:gd name="adj" fmla="val 5260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47625" dist="9525" dir="5400000">
              <a:srgbClr val="1E3A5F">
                <a:alpha val="6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5747147" y="1685330"/>
            <a:ext cx="103352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7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Score Trend</a:t>
            </a:r>
            <a:endParaRPr lang="en-US" sz="720" dirty="0"/>
          </a:p>
        </p:txBody>
      </p:sp>
      <p:sp>
        <p:nvSpPr>
          <p:cNvPr id="28" name="Shape 25"/>
          <p:cNvSpPr/>
          <p:nvPr/>
        </p:nvSpPr>
        <p:spPr>
          <a:xfrm>
            <a:off x="5747296" y="1916720"/>
            <a:ext cx="2843213" cy="666750"/>
          </a:xfrm>
          <a:prstGeom prst="rect">
            <a:avLst/>
          </a:prstGeom>
          <a:ln/>
        </p:spPr>
      </p:sp>
      <p:sp>
        <p:nvSpPr>
          <p:cNvPr id="29" name="Text 26"/>
          <p:cNvSpPr/>
          <p:nvPr/>
        </p:nvSpPr>
        <p:spPr>
          <a:xfrm>
            <a:off x="6009308" y="1751186"/>
            <a:ext cx="165884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</a:t>
            </a:r>
            <a:endParaRPr lang="en-US" sz="540" dirty="0"/>
          </a:p>
        </p:txBody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46366" y="1875383"/>
            <a:ext cx="609600" cy="51435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993606" y="2430066"/>
            <a:ext cx="206804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</a:t>
            </a:r>
            <a:endParaRPr lang="en-US" sz="540" dirty="0"/>
          </a:p>
        </p:txBody>
      </p:sp>
      <p:sp>
        <p:nvSpPr>
          <p:cNvPr id="32" name="Text 28"/>
          <p:cNvSpPr/>
          <p:nvPr/>
        </p:nvSpPr>
        <p:spPr>
          <a:xfrm>
            <a:off x="6752481" y="1776933"/>
            <a:ext cx="171204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</a:t>
            </a:r>
            <a:endParaRPr lang="en-US" sz="540" dirty="0"/>
          </a:p>
        </p:txBody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91548" y="1900163"/>
            <a:ext cx="609600" cy="490537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727329" y="2430066"/>
            <a:ext cx="236503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</a:t>
            </a:r>
            <a:endParaRPr lang="en-US" sz="540" dirty="0"/>
          </a:p>
        </p:txBody>
      </p:sp>
      <p:sp>
        <p:nvSpPr>
          <p:cNvPr id="35" name="Text 30"/>
          <p:cNvSpPr/>
          <p:nvPr/>
        </p:nvSpPr>
        <p:spPr>
          <a:xfrm>
            <a:off x="7498556" y="1802681"/>
            <a:ext cx="168786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</a:t>
            </a:r>
            <a:endParaRPr lang="en-US" sz="540" dirty="0"/>
          </a:p>
        </p:txBody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36730" y="1927324"/>
            <a:ext cx="609600" cy="461962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7481441" y="2430066"/>
            <a:ext cx="213382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</a:t>
            </a:r>
            <a:endParaRPr lang="en-US" sz="540" dirty="0"/>
          </a:p>
        </p:txBody>
      </p:sp>
      <p:sp>
        <p:nvSpPr>
          <p:cNvPr id="38" name="Text 32"/>
          <p:cNvSpPr/>
          <p:nvPr/>
        </p:nvSpPr>
        <p:spPr>
          <a:xfrm>
            <a:off x="8242846" y="1828354"/>
            <a:ext cx="171204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62</a:t>
            </a:r>
            <a:endParaRPr lang="en-US" sz="540" dirty="0"/>
          </a:p>
        </p:txBody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81913" y="1952067"/>
            <a:ext cx="609600" cy="43815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8236000" y="2430066"/>
            <a:ext cx="188908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</a:t>
            </a:r>
            <a:endParaRPr lang="en-US" sz="540" dirty="0"/>
          </a:p>
        </p:txBody>
      </p:sp>
      <p:sp>
        <p:nvSpPr>
          <p:cNvPr id="41" name="Text 34"/>
          <p:cNvSpPr/>
          <p:nvPr/>
        </p:nvSpPr>
        <p:spPr>
          <a:xfrm>
            <a:off x="5747147" y="2674441"/>
            <a:ext cx="1122142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4-month improvement</a:t>
            </a:r>
            <a:endParaRPr lang="en-US" sz="610" dirty="0"/>
          </a:p>
        </p:txBody>
      </p:sp>
      <p:sp>
        <p:nvSpPr>
          <p:cNvPr id="42" name="Shape 35"/>
          <p:cNvSpPr/>
          <p:nvPr/>
        </p:nvSpPr>
        <p:spPr>
          <a:xfrm>
            <a:off x="8205192" y="2647020"/>
            <a:ext cx="385763" cy="152400"/>
          </a:xfrm>
          <a:prstGeom prst="roundRect">
            <a:avLst>
              <a:gd name="adj" fmla="val 50000"/>
            </a:avLst>
          </a:prstGeom>
          <a:solidFill>
            <a:srgbClr val="0D9488">
              <a:alpha val="10000"/>
            </a:srgbClr>
          </a:solidFill>
          <a:ln/>
        </p:spPr>
      </p:sp>
      <p:sp>
        <p:nvSpPr>
          <p:cNvPr id="43" name="Text 36"/>
          <p:cNvSpPr/>
          <p:nvPr/>
        </p:nvSpPr>
        <p:spPr>
          <a:xfrm>
            <a:off x="8278639" y="2671018"/>
            <a:ext cx="36768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-8 pts</a:t>
            </a:r>
            <a:endParaRPr lang="en-US" sz="650" dirty="0"/>
          </a:p>
        </p:txBody>
      </p:sp>
      <p:sp>
        <p:nvSpPr>
          <p:cNvPr id="44" name="Shape 37"/>
          <p:cNvSpPr/>
          <p:nvPr/>
        </p:nvSpPr>
        <p:spPr>
          <a:xfrm>
            <a:off x="5559177" y="3009937"/>
            <a:ext cx="3219450" cy="695325"/>
          </a:xfrm>
          <a:prstGeom prst="roundRect">
            <a:avLst>
              <a:gd name="adj" fmla="val 10521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47625" dist="9525" dir="5400000">
              <a:srgbClr val="1E3A5F">
                <a:alpha val="6000"/>
              </a:srgbClr>
            </a:outerShdw>
          </a:effectLst>
        </p:spPr>
      </p:sp>
      <p:sp>
        <p:nvSpPr>
          <p:cNvPr id="45" name="Text 38"/>
          <p:cNvSpPr/>
          <p:nvPr/>
        </p:nvSpPr>
        <p:spPr>
          <a:xfrm>
            <a:off x="5620903" y="3117652"/>
            <a:ext cx="903610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203"/>
              </a:spcAft>
              <a:buNone/>
            </a:pPr>
            <a:r>
              <a:rPr lang="en-US" sz="540" b="1" spc="22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SLA COMPLIANCE</a:t>
            </a:r>
            <a:endParaRPr lang="en-US" sz="540" dirty="0"/>
          </a:p>
        </p:txBody>
      </p:sp>
      <p:sp>
        <p:nvSpPr>
          <p:cNvPr id="46" name="Text 39"/>
          <p:cNvSpPr/>
          <p:nvPr/>
        </p:nvSpPr>
        <p:spPr>
          <a:xfrm>
            <a:off x="5790679" y="3260527"/>
            <a:ext cx="564059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91%</a:t>
            </a:r>
            <a:endParaRPr lang="en-US" sz="1440" dirty="0"/>
          </a:p>
        </p:txBody>
      </p:sp>
      <p:sp>
        <p:nvSpPr>
          <p:cNvPr id="47" name="Text 40"/>
          <p:cNvSpPr/>
          <p:nvPr/>
        </p:nvSpPr>
        <p:spPr>
          <a:xfrm>
            <a:off x="5815552" y="3520604"/>
            <a:ext cx="514238" cy="76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95%</a:t>
            </a:r>
            <a:endParaRPr lang="en-US" sz="500" dirty="0"/>
          </a:p>
        </p:txBody>
      </p:sp>
      <p:sp>
        <p:nvSpPr>
          <p:cNvPr id="48" name="Shape 41"/>
          <p:cNvSpPr/>
          <p:nvPr/>
        </p:nvSpPr>
        <p:spPr>
          <a:xfrm>
            <a:off x="6752481" y="3228975"/>
            <a:ext cx="4763" cy="25717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9" name="Text 42"/>
          <p:cNvSpPr/>
          <p:nvPr/>
        </p:nvSpPr>
        <p:spPr>
          <a:xfrm>
            <a:off x="7076052" y="3117652"/>
            <a:ext cx="436848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203"/>
              </a:spcAft>
              <a:buNone/>
            </a:pPr>
            <a:r>
              <a:rPr lang="en-US" sz="540" b="1" spc="22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CLOSED</a:t>
            </a:r>
            <a:endParaRPr lang="en-US" sz="540" dirty="0"/>
          </a:p>
        </p:txBody>
      </p:sp>
      <p:sp>
        <p:nvSpPr>
          <p:cNvPr id="50" name="Text 43"/>
          <p:cNvSpPr/>
          <p:nvPr/>
        </p:nvSpPr>
        <p:spPr>
          <a:xfrm>
            <a:off x="7066367" y="3260527"/>
            <a:ext cx="456292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178</a:t>
            </a:r>
            <a:endParaRPr lang="en-US" sz="1440" dirty="0"/>
          </a:p>
        </p:txBody>
      </p:sp>
      <p:sp>
        <p:nvSpPr>
          <p:cNvPr id="51" name="Text 44"/>
          <p:cNvSpPr/>
          <p:nvPr/>
        </p:nvSpPr>
        <p:spPr>
          <a:xfrm>
            <a:off x="7027962" y="3520604"/>
            <a:ext cx="533102" cy="76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203 opened</a:t>
            </a:r>
            <a:endParaRPr lang="en-US" sz="500" dirty="0"/>
          </a:p>
        </p:txBody>
      </p:sp>
      <p:sp>
        <p:nvSpPr>
          <p:cNvPr id="52" name="Shape 45"/>
          <p:cNvSpPr/>
          <p:nvPr/>
        </p:nvSpPr>
        <p:spPr>
          <a:xfrm>
            <a:off x="7831782" y="3228975"/>
            <a:ext cx="4763" cy="25717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3" name="Text 46"/>
          <p:cNvSpPr/>
          <p:nvPr/>
        </p:nvSpPr>
        <p:spPr>
          <a:xfrm>
            <a:off x="8102207" y="3117652"/>
            <a:ext cx="576925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203"/>
              </a:spcAft>
              <a:buNone/>
            </a:pPr>
            <a:r>
              <a:rPr lang="en-US" sz="540" b="1" spc="22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MTTR CRIT</a:t>
            </a:r>
            <a:endParaRPr lang="en-US" sz="540" dirty="0"/>
          </a:p>
        </p:txBody>
      </p:sp>
      <p:sp>
        <p:nvSpPr>
          <p:cNvPr id="54" name="Text 47"/>
          <p:cNvSpPr/>
          <p:nvPr/>
        </p:nvSpPr>
        <p:spPr>
          <a:xfrm>
            <a:off x="8181350" y="3260527"/>
            <a:ext cx="41856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11d</a:t>
            </a:r>
            <a:endParaRPr lang="en-US" sz="1440" dirty="0"/>
          </a:p>
        </p:txBody>
      </p:sp>
      <p:sp>
        <p:nvSpPr>
          <p:cNvPr id="55" name="Text 48"/>
          <p:cNvSpPr/>
          <p:nvPr/>
        </p:nvSpPr>
        <p:spPr>
          <a:xfrm>
            <a:off x="8212585" y="3520604"/>
            <a:ext cx="356168" cy="76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SLA: 7d</a:t>
            </a:r>
            <a:endParaRPr lang="en-US" sz="500" dirty="0"/>
          </a:p>
        </p:txBody>
      </p:sp>
      <p:sp>
        <p:nvSpPr>
          <p:cNvPr id="56" name="Shape 49"/>
          <p:cNvSpPr/>
          <p:nvPr/>
        </p:nvSpPr>
        <p:spPr>
          <a:xfrm>
            <a:off x="366713" y="4732772"/>
            <a:ext cx="8410575" cy="204787"/>
          </a:xfrm>
          <a:prstGeom prst="rect">
            <a:avLst/>
          </a:prstGeom>
          <a:ln/>
        </p:spPr>
      </p:sp>
      <p:sp>
        <p:nvSpPr>
          <p:cNvPr id="57" name="Text 50"/>
          <p:cNvSpPr/>
          <p:nvPr/>
        </p:nvSpPr>
        <p:spPr>
          <a:xfrm>
            <a:off x="365745" y="4823892"/>
            <a:ext cx="2336884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 Security Program — Confidential</a:t>
            </a:r>
            <a:endParaRPr lang="en-US" sz="650" dirty="0"/>
          </a:p>
        </p:txBody>
      </p:sp>
      <p:sp>
        <p:nvSpPr>
          <p:cNvPr id="58" name="Text 51"/>
          <p:cNvSpPr/>
          <p:nvPr/>
        </p:nvSpPr>
        <p:spPr>
          <a:xfrm>
            <a:off x="8532168" y="4823892"/>
            <a:ext cx="37706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of 10</a:t>
            </a:r>
            <a:endParaRPr lang="en-US" sz="650" dirty="0"/>
          </a:p>
        </p:txBody>
      </p:sp>
      <p:pic>
        <p:nvPicPr>
          <p:cNvPr id="59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66713" y="205271"/>
            <a:ext cx="8410575" cy="309562"/>
          </a:xfrm>
          <a:prstGeom prst="rect">
            <a:avLst/>
          </a:prstGeom>
        </p:spPr>
      </p:pic>
      <p:pic>
        <p:nvPicPr>
          <p:cNvPr id="60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747296" y="1916720"/>
            <a:ext cx="2843213" cy="666750"/>
          </a:xfrm>
          <a:prstGeom prst="rect">
            <a:avLst/>
          </a:prstGeom>
        </p:spPr>
      </p:pic>
      <p:pic>
        <p:nvPicPr>
          <p:cNvPr id="61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66713" y="4732772"/>
            <a:ext cx="8410575" cy="2047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" name="Shape 1"/>
          <p:cNvSpPr/>
          <p:nvPr/>
        </p:nvSpPr>
        <p:spPr>
          <a:xfrm>
            <a:off x="366713" y="205271"/>
            <a:ext cx="8410575" cy="309562"/>
          </a:xfrm>
          <a:prstGeom prst="rect">
            <a:avLst/>
          </a:prstGeom>
          <a:ln/>
        </p:spPr>
      </p:sp>
      <p:sp>
        <p:nvSpPr>
          <p:cNvPr id="4" name="Shape 2"/>
          <p:cNvSpPr/>
          <p:nvPr/>
        </p:nvSpPr>
        <p:spPr>
          <a:xfrm>
            <a:off x="366303" y="206239"/>
            <a:ext cx="200025" cy="200025"/>
          </a:xfrm>
          <a:prstGeom prst="roundRect">
            <a:avLst>
              <a:gd name="adj" fmla="val 18286"/>
            </a:avLst>
          </a:prstGeom>
          <a:solidFill>
            <a:srgbClr val="0D948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0989" y="250924"/>
            <a:ext cx="110579" cy="11057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35" y="238199"/>
            <a:ext cx="123290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AppSec Program</a:t>
            </a:r>
            <a:endParaRPr lang="en-US" sz="860" dirty="0"/>
          </a:p>
        </p:txBody>
      </p:sp>
      <p:sp>
        <p:nvSpPr>
          <p:cNvPr id="7" name="Text 4"/>
          <p:cNvSpPr/>
          <p:nvPr/>
        </p:nvSpPr>
        <p:spPr>
          <a:xfrm>
            <a:off x="7094562" y="247204"/>
            <a:ext cx="137859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SUMMARY</a:t>
            </a:r>
            <a:endParaRPr lang="en-US" sz="720" dirty="0"/>
          </a:p>
        </p:txBody>
      </p:sp>
      <p:sp>
        <p:nvSpPr>
          <p:cNvPr id="8" name="Text 5"/>
          <p:cNvSpPr/>
          <p:nvPr/>
        </p:nvSpPr>
        <p:spPr>
          <a:xfrm>
            <a:off x="8293894" y="247204"/>
            <a:ext cx="68681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JULY 2026</a:t>
            </a:r>
            <a:endParaRPr lang="en-US" sz="720" dirty="0"/>
          </a:p>
        </p:txBody>
      </p:sp>
      <p:sp>
        <p:nvSpPr>
          <p:cNvPr id="9" name="Text 6"/>
          <p:cNvSpPr/>
          <p:nvPr/>
        </p:nvSpPr>
        <p:spPr>
          <a:xfrm>
            <a:off x="365745" y="652537"/>
            <a:ext cx="1374242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650" b="1" spc="65" kern="0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OVERVIEW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365745" y="788491"/>
            <a:ext cx="3754584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00" b="1" spc="-23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Summary</a:t>
            </a:r>
            <a:endParaRPr lang="en-US" sz="2300" dirty="0"/>
          </a:p>
        </p:txBody>
      </p:sp>
      <p:sp>
        <p:nvSpPr>
          <p:cNvPr id="11" name="Shape 8"/>
          <p:cNvSpPr/>
          <p:nvPr/>
        </p:nvSpPr>
        <p:spPr>
          <a:xfrm>
            <a:off x="365261" y="1257598"/>
            <a:ext cx="4024312" cy="490537"/>
          </a:xfrm>
          <a:prstGeom prst="roundRect">
            <a:avLst>
              <a:gd name="adj" fmla="val 14913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47625" dist="9525" dir="5400000">
              <a:srgbClr val="1E3A5F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54385" y="1382018"/>
            <a:ext cx="61912" cy="6191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0"/>
          <p:cNvSpPr/>
          <p:nvPr/>
        </p:nvSpPr>
        <p:spPr>
          <a:xfrm>
            <a:off x="727025" y="1375097"/>
            <a:ext cx="2279228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2"/>
              </a:spcAft>
              <a:buNone/>
            </a:pPr>
            <a:r>
              <a:rPr lang="en-US" sz="7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posture improved 8 points MoM</a:t>
            </a:r>
            <a:endParaRPr lang="en-US" sz="760" dirty="0"/>
          </a:p>
        </p:txBody>
      </p:sp>
      <p:sp>
        <p:nvSpPr>
          <p:cNvPr id="14" name="Text 11"/>
          <p:cNvSpPr/>
          <p:nvPr/>
        </p:nvSpPr>
        <p:spPr>
          <a:xfrm>
            <a:off x="727025" y="1529730"/>
            <a:ext cx="284659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Strongest gain in 6 months — overall score now 62/100</a:t>
            </a:r>
            <a:endParaRPr lang="en-US" sz="650" dirty="0"/>
          </a:p>
        </p:txBody>
      </p:sp>
      <p:sp>
        <p:nvSpPr>
          <p:cNvPr id="15" name="Shape 12"/>
          <p:cNvSpPr/>
          <p:nvPr/>
        </p:nvSpPr>
        <p:spPr>
          <a:xfrm>
            <a:off x="365261" y="1824484"/>
            <a:ext cx="4024312" cy="490537"/>
          </a:xfrm>
          <a:prstGeom prst="roundRect">
            <a:avLst>
              <a:gd name="adj" fmla="val 14913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47625" dist="9525" dir="5400000">
              <a:srgbClr val="1E3A5F">
                <a:alpha val="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54385" y="1948904"/>
            <a:ext cx="61912" cy="6191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4"/>
          <p:cNvSpPr/>
          <p:nvPr/>
        </p:nvSpPr>
        <p:spPr>
          <a:xfrm>
            <a:off x="727025" y="1941984"/>
            <a:ext cx="3082640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2"/>
              </a:spcAft>
              <a:buNone/>
            </a:pPr>
            <a:r>
              <a:rPr lang="en-US" sz="7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MTTR for Critical vulns dropped 18 days → 11 days</a:t>
            </a:r>
            <a:endParaRPr lang="en-US" sz="760" dirty="0"/>
          </a:p>
        </p:txBody>
      </p:sp>
      <p:sp>
        <p:nvSpPr>
          <p:cNvPr id="18" name="Text 15"/>
          <p:cNvSpPr/>
          <p:nvPr/>
        </p:nvSpPr>
        <p:spPr>
          <a:xfrm>
            <a:off x="727025" y="2096616"/>
            <a:ext cx="2777721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Significant improvement; SLA breach count down to 3</a:t>
            </a:r>
            <a:endParaRPr lang="en-US" sz="650" dirty="0"/>
          </a:p>
        </p:txBody>
      </p:sp>
      <p:sp>
        <p:nvSpPr>
          <p:cNvPr id="19" name="Shape 16"/>
          <p:cNvSpPr/>
          <p:nvPr/>
        </p:nvSpPr>
        <p:spPr>
          <a:xfrm>
            <a:off x="365261" y="2391370"/>
            <a:ext cx="4024312" cy="490537"/>
          </a:xfrm>
          <a:prstGeom prst="roundRect">
            <a:avLst>
              <a:gd name="adj" fmla="val 14913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47625" dist="9525" dir="5400000">
              <a:srgbClr val="1E3A5F">
                <a:alpha val="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54385" y="2515791"/>
            <a:ext cx="61912" cy="6191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8"/>
          <p:cNvSpPr/>
          <p:nvPr/>
        </p:nvSpPr>
        <p:spPr>
          <a:xfrm>
            <a:off x="727025" y="2508870"/>
            <a:ext cx="240140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2"/>
              </a:spcAft>
              <a:buNone/>
            </a:pPr>
            <a:r>
              <a:rPr lang="en-US" sz="7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high-severity incidents contained</a:t>
            </a:r>
            <a:endParaRPr lang="en-US" sz="760" dirty="0"/>
          </a:p>
        </p:txBody>
      </p:sp>
      <p:sp>
        <p:nvSpPr>
          <p:cNvPr id="22" name="Text 19"/>
          <p:cNvSpPr/>
          <p:nvPr/>
        </p:nvSpPr>
        <p:spPr>
          <a:xfrm>
            <a:off x="727025" y="2663503"/>
            <a:ext cx="279445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customer impact; post-incident reviews completed</a:t>
            </a:r>
            <a:endParaRPr lang="en-US" sz="650" dirty="0"/>
          </a:p>
        </p:txBody>
      </p:sp>
      <p:sp>
        <p:nvSpPr>
          <p:cNvPr id="23" name="Shape 20"/>
          <p:cNvSpPr/>
          <p:nvPr/>
        </p:nvSpPr>
        <p:spPr>
          <a:xfrm>
            <a:off x="365261" y="2958257"/>
            <a:ext cx="4024312" cy="490537"/>
          </a:xfrm>
          <a:prstGeom prst="roundRect">
            <a:avLst>
              <a:gd name="adj" fmla="val 14913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47625" dist="9525" dir="5400000">
              <a:srgbClr val="1E3A5F">
                <a:alpha val="6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54385" y="3082677"/>
            <a:ext cx="61912" cy="6191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5" name="Text 22"/>
          <p:cNvSpPr/>
          <p:nvPr/>
        </p:nvSpPr>
        <p:spPr>
          <a:xfrm>
            <a:off x="727025" y="3075756"/>
            <a:ext cx="1732657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2"/>
              </a:spcAft>
              <a:buNone/>
            </a:pPr>
            <a:r>
              <a:rPr lang="en-US" sz="7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2 Type II audit on track</a:t>
            </a:r>
            <a:endParaRPr lang="en-US" sz="760" dirty="0"/>
          </a:p>
        </p:txBody>
      </p:sp>
      <p:sp>
        <p:nvSpPr>
          <p:cNvPr id="26" name="Text 23"/>
          <p:cNvSpPr/>
          <p:nvPr/>
        </p:nvSpPr>
        <p:spPr>
          <a:xfrm>
            <a:off x="727025" y="3230389"/>
            <a:ext cx="290173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collection 87% complete; Nov report expected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365261" y="3525143"/>
            <a:ext cx="4024312" cy="490537"/>
          </a:xfrm>
          <a:prstGeom prst="roundRect">
            <a:avLst>
              <a:gd name="adj" fmla="val 14913"/>
            </a:avLst>
          </a:prstGeom>
          <a:solidFill>
            <a:srgbClr val="FFFFFF"/>
          </a:solidFill>
          <a:ln w="4763">
            <a:solidFill>
              <a:srgbClr val="FCA5A5"/>
            </a:solidFill>
            <a:prstDash val="solid"/>
          </a:ln>
          <a:effectLst>
            <a:outerShdw sx="100000" sy="100000" kx="0" ky="0" algn="bl" rotWithShape="0" blurRad="47625" dist="9525" dir="5400000">
              <a:srgbClr val="1E3A5F">
                <a:alpha val="6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54385" y="3649563"/>
            <a:ext cx="61912" cy="6191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9" name="Text 26"/>
          <p:cNvSpPr/>
          <p:nvPr/>
        </p:nvSpPr>
        <p:spPr>
          <a:xfrm>
            <a:off x="727025" y="3642643"/>
            <a:ext cx="2188681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2"/>
              </a:spcAft>
              <a:buNone/>
            </a:pPr>
            <a:r>
              <a:rPr lang="en-US" sz="76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concern: SCA findings up 22%</a:t>
            </a:r>
            <a:endParaRPr lang="en-US" sz="760" dirty="0"/>
          </a:p>
        </p:txBody>
      </p:sp>
      <p:sp>
        <p:nvSpPr>
          <p:cNvPr id="30" name="Text 27"/>
          <p:cNvSpPr/>
          <p:nvPr/>
        </p:nvSpPr>
        <p:spPr>
          <a:xfrm>
            <a:off x="727025" y="3797275"/>
            <a:ext cx="330359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Open-source dependency surge — remediation plan in progress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4754389" y="1258788"/>
            <a:ext cx="4024312" cy="1390650"/>
          </a:xfrm>
          <a:prstGeom prst="roundRect">
            <a:avLst>
              <a:gd name="adj" fmla="val 5260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47625" dist="9525" dir="5400000">
              <a:srgbClr val="1E3A5F">
                <a:alpha val="6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4942433" y="1375097"/>
            <a:ext cx="1084898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610" b="1" spc="37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 STATUS</a:t>
            </a:r>
            <a:endParaRPr lang="en-US" sz="610" dirty="0"/>
          </a:p>
        </p:txBody>
      </p:sp>
      <p:sp>
        <p:nvSpPr>
          <p:cNvPr id="33" name="Text 30"/>
          <p:cNvSpPr/>
          <p:nvPr/>
        </p:nvSpPr>
        <p:spPr>
          <a:xfrm>
            <a:off x="4942433" y="1573783"/>
            <a:ext cx="157139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Vulnerability Management</a:t>
            </a:r>
            <a:endParaRPr lang="en-US" sz="720" dirty="0"/>
          </a:p>
        </p:txBody>
      </p:sp>
      <p:sp>
        <p:nvSpPr>
          <p:cNvPr id="34" name="Shape 31"/>
          <p:cNvSpPr/>
          <p:nvPr/>
        </p:nvSpPr>
        <p:spPr>
          <a:xfrm>
            <a:off x="8104324" y="1559049"/>
            <a:ext cx="485775" cy="147637"/>
          </a:xfrm>
          <a:prstGeom prst="roundRect">
            <a:avLst>
              <a:gd name="adj" fmla="val 50000"/>
            </a:avLst>
          </a:prstGeom>
          <a:solidFill>
            <a:srgbClr val="0D9488">
              <a:alpha val="10000"/>
            </a:srgbClr>
          </a:solidFill>
          <a:ln/>
        </p:spPr>
      </p:sp>
      <p:sp>
        <p:nvSpPr>
          <p:cNvPr id="35" name="Text 32"/>
          <p:cNvSpPr/>
          <p:nvPr/>
        </p:nvSpPr>
        <p:spPr>
          <a:xfrm>
            <a:off x="8176915" y="1584127"/>
            <a:ext cx="499921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Track</a:t>
            </a:r>
            <a:endParaRPr lang="en-US" sz="610" dirty="0"/>
          </a:p>
        </p:txBody>
      </p:sp>
      <p:sp>
        <p:nvSpPr>
          <p:cNvPr id="36" name="Text 33"/>
          <p:cNvSpPr/>
          <p:nvPr/>
        </p:nvSpPr>
        <p:spPr>
          <a:xfrm>
            <a:off x="4942433" y="1782812"/>
            <a:ext cx="116441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2 Type II Audit</a:t>
            </a:r>
            <a:endParaRPr lang="en-US" sz="720" dirty="0"/>
          </a:p>
        </p:txBody>
      </p:sp>
      <p:sp>
        <p:nvSpPr>
          <p:cNvPr id="37" name="Shape 34"/>
          <p:cNvSpPr/>
          <p:nvPr/>
        </p:nvSpPr>
        <p:spPr>
          <a:xfrm>
            <a:off x="8104324" y="1768078"/>
            <a:ext cx="485775" cy="147637"/>
          </a:xfrm>
          <a:prstGeom prst="roundRect">
            <a:avLst>
              <a:gd name="adj" fmla="val 50000"/>
            </a:avLst>
          </a:prstGeom>
          <a:solidFill>
            <a:srgbClr val="0D9488">
              <a:alpha val="10000"/>
            </a:srgbClr>
          </a:solidFill>
          <a:ln/>
        </p:spPr>
      </p:sp>
      <p:sp>
        <p:nvSpPr>
          <p:cNvPr id="38" name="Text 35"/>
          <p:cNvSpPr/>
          <p:nvPr/>
        </p:nvSpPr>
        <p:spPr>
          <a:xfrm>
            <a:off x="8176915" y="1793156"/>
            <a:ext cx="499921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Track</a:t>
            </a:r>
            <a:endParaRPr lang="en-US" sz="610" dirty="0"/>
          </a:p>
        </p:txBody>
      </p:sp>
      <p:sp>
        <p:nvSpPr>
          <p:cNvPr id="39" name="Text 36"/>
          <p:cNvSpPr/>
          <p:nvPr/>
        </p:nvSpPr>
        <p:spPr>
          <a:xfrm>
            <a:off x="4942433" y="1991841"/>
            <a:ext cx="137646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 27001 Surveillance</a:t>
            </a:r>
            <a:endParaRPr lang="en-US" sz="720" dirty="0"/>
          </a:p>
        </p:txBody>
      </p:sp>
      <p:sp>
        <p:nvSpPr>
          <p:cNvPr id="40" name="Shape 37"/>
          <p:cNvSpPr/>
          <p:nvPr/>
        </p:nvSpPr>
        <p:spPr>
          <a:xfrm>
            <a:off x="8018078" y="1977107"/>
            <a:ext cx="571500" cy="147637"/>
          </a:xfrm>
          <a:prstGeom prst="roundRect">
            <a:avLst>
              <a:gd name="adj" fmla="val 50000"/>
            </a:avLst>
          </a:prstGeom>
          <a:solidFill>
            <a:srgbClr val="F59E0B">
              <a:alpha val="10000"/>
            </a:srgbClr>
          </a:solidFill>
          <a:ln/>
        </p:spPr>
      </p:sp>
      <p:sp>
        <p:nvSpPr>
          <p:cNvPr id="41" name="Text 38"/>
          <p:cNvSpPr/>
          <p:nvPr/>
        </p:nvSpPr>
        <p:spPr>
          <a:xfrm>
            <a:off x="8090148" y="2002185"/>
            <a:ext cx="612718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 Phase</a:t>
            </a:r>
            <a:endParaRPr lang="en-US" sz="610" dirty="0"/>
          </a:p>
        </p:txBody>
      </p:sp>
      <p:sp>
        <p:nvSpPr>
          <p:cNvPr id="42" name="Text 39"/>
          <p:cNvSpPr/>
          <p:nvPr/>
        </p:nvSpPr>
        <p:spPr>
          <a:xfrm>
            <a:off x="4942433" y="2200870"/>
            <a:ext cx="100373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PCI DSS 4.0 Gap</a:t>
            </a:r>
            <a:endParaRPr lang="en-US" sz="720" dirty="0"/>
          </a:p>
        </p:txBody>
      </p:sp>
      <p:sp>
        <p:nvSpPr>
          <p:cNvPr id="43" name="Shape 40"/>
          <p:cNvSpPr/>
          <p:nvPr/>
        </p:nvSpPr>
        <p:spPr>
          <a:xfrm>
            <a:off x="7829476" y="2186136"/>
            <a:ext cx="762000" cy="147637"/>
          </a:xfrm>
          <a:prstGeom prst="roundRect">
            <a:avLst>
              <a:gd name="adj" fmla="val 50000"/>
            </a:avLst>
          </a:prstGeom>
          <a:solidFill>
            <a:srgbClr val="DC2626">
              <a:alpha val="8000"/>
            </a:srgbClr>
          </a:solidFill>
          <a:ln/>
        </p:spPr>
      </p:sp>
      <p:sp>
        <p:nvSpPr>
          <p:cNvPr id="44" name="Text 41"/>
          <p:cNvSpPr/>
          <p:nvPr/>
        </p:nvSpPr>
        <p:spPr>
          <a:xfrm>
            <a:off x="7903443" y="2211214"/>
            <a:ext cx="855434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Needs Attention</a:t>
            </a:r>
            <a:endParaRPr lang="en-US" sz="610" dirty="0"/>
          </a:p>
        </p:txBody>
      </p:sp>
      <p:sp>
        <p:nvSpPr>
          <p:cNvPr id="45" name="Text 42"/>
          <p:cNvSpPr/>
          <p:nvPr/>
        </p:nvSpPr>
        <p:spPr>
          <a:xfrm>
            <a:off x="4942433" y="2409899"/>
            <a:ext cx="143151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 Dependency Surge</a:t>
            </a:r>
            <a:endParaRPr lang="en-US" sz="720" dirty="0"/>
          </a:p>
        </p:txBody>
      </p:sp>
      <p:sp>
        <p:nvSpPr>
          <p:cNvPr id="46" name="Shape 43"/>
          <p:cNvSpPr/>
          <p:nvPr/>
        </p:nvSpPr>
        <p:spPr>
          <a:xfrm>
            <a:off x="8072251" y="2395165"/>
            <a:ext cx="519112" cy="147637"/>
          </a:xfrm>
          <a:prstGeom prst="roundRect">
            <a:avLst>
              <a:gd name="adj" fmla="val 50000"/>
            </a:avLst>
          </a:prstGeom>
          <a:solidFill>
            <a:srgbClr val="DC2626">
              <a:alpha val="8000"/>
            </a:srgbClr>
          </a:solidFill>
          <a:ln/>
        </p:spPr>
      </p:sp>
      <p:sp>
        <p:nvSpPr>
          <p:cNvPr id="47" name="Text 44"/>
          <p:cNvSpPr/>
          <p:nvPr/>
        </p:nvSpPr>
        <p:spPr>
          <a:xfrm>
            <a:off x="8146107" y="2420243"/>
            <a:ext cx="539971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Escalated</a:t>
            </a:r>
            <a:endParaRPr lang="en-US" sz="610" dirty="0"/>
          </a:p>
        </p:txBody>
      </p:sp>
      <p:pic>
        <p:nvPicPr>
          <p:cNvPr id="4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389" y="2727573"/>
            <a:ext cx="4024312" cy="1328738"/>
          </a:xfrm>
          <a:prstGeom prst="rect">
            <a:avLst/>
          </a:prstGeom>
          <a:effectLst>
            <a:outerShdw sx="100000" sy="100000" kx="0" ky="0" algn="bl" rotWithShape="0" blurRad="47625" dist="9525" dir="5400000">
              <a:srgbClr val="1E3A5F">
                <a:alpha val="6000"/>
              </a:srgbClr>
            </a:outerShdw>
          </a:effectLst>
        </p:spPr>
      </p:pic>
      <p:sp>
        <p:nvSpPr>
          <p:cNvPr id="49" name="Text 45"/>
          <p:cNvSpPr/>
          <p:nvPr/>
        </p:nvSpPr>
        <p:spPr>
          <a:xfrm>
            <a:off x="4942433" y="2844478"/>
            <a:ext cx="1125237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610" b="1" spc="37" kern="0" dirty="0">
                <a:solidFill>
                  <a:srgbClr val="FDFD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 SNAPSHOT</a:t>
            </a:r>
            <a:endParaRPr lang="en-US" sz="610" dirty="0"/>
          </a:p>
        </p:txBody>
      </p:sp>
      <p:sp>
        <p:nvSpPr>
          <p:cNvPr id="50" name="Text 46"/>
          <p:cNvSpPr/>
          <p:nvPr/>
        </p:nvSpPr>
        <p:spPr>
          <a:xfrm>
            <a:off x="4942433" y="3057153"/>
            <a:ext cx="785202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1,284</a:t>
            </a:r>
            <a:endParaRPr lang="en-US" sz="1580" dirty="0"/>
          </a:p>
        </p:txBody>
      </p:sp>
      <p:sp>
        <p:nvSpPr>
          <p:cNvPr id="51" name="Text 47"/>
          <p:cNvSpPr/>
          <p:nvPr/>
        </p:nvSpPr>
        <p:spPr>
          <a:xfrm>
            <a:off x="4942433" y="3350047"/>
            <a:ext cx="686916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"/>
              </a:spcBef>
              <a:buNone/>
            </a:pPr>
            <a:r>
              <a:rPr lang="en-US" sz="580" dirty="0">
                <a:solidFill>
                  <a:srgbClr val="FDFD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findings</a:t>
            </a:r>
            <a:endParaRPr lang="en-US" sz="580" dirty="0"/>
          </a:p>
        </p:txBody>
      </p:sp>
      <p:sp>
        <p:nvSpPr>
          <p:cNvPr id="52" name="Text 48"/>
          <p:cNvSpPr/>
          <p:nvPr/>
        </p:nvSpPr>
        <p:spPr>
          <a:xfrm>
            <a:off x="6805092" y="3057153"/>
            <a:ext cx="49624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178</a:t>
            </a:r>
            <a:endParaRPr lang="en-US" sz="1580" dirty="0"/>
          </a:p>
        </p:txBody>
      </p:sp>
      <p:sp>
        <p:nvSpPr>
          <p:cNvPr id="53" name="Text 49"/>
          <p:cNvSpPr/>
          <p:nvPr/>
        </p:nvSpPr>
        <p:spPr>
          <a:xfrm>
            <a:off x="6805092" y="3350047"/>
            <a:ext cx="868494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"/>
              </a:spcBef>
              <a:buNone/>
            </a:pPr>
            <a:r>
              <a:rPr lang="en-US" sz="580" dirty="0">
                <a:solidFill>
                  <a:srgbClr val="FDFD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Closed this month</a:t>
            </a:r>
            <a:endParaRPr lang="en-US" sz="580" dirty="0"/>
          </a:p>
        </p:txBody>
      </p:sp>
      <p:sp>
        <p:nvSpPr>
          <p:cNvPr id="54" name="Text 50"/>
          <p:cNvSpPr/>
          <p:nvPr/>
        </p:nvSpPr>
        <p:spPr>
          <a:xfrm>
            <a:off x="4942433" y="3555876"/>
            <a:ext cx="614749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91%</a:t>
            </a:r>
            <a:endParaRPr lang="en-US" sz="1580" dirty="0"/>
          </a:p>
        </p:txBody>
      </p:sp>
      <p:sp>
        <p:nvSpPr>
          <p:cNvPr id="55" name="Text 51"/>
          <p:cNvSpPr/>
          <p:nvPr/>
        </p:nvSpPr>
        <p:spPr>
          <a:xfrm>
            <a:off x="4942433" y="3848770"/>
            <a:ext cx="782590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"/>
              </a:spcBef>
              <a:buNone/>
            </a:pPr>
            <a:r>
              <a:rPr lang="en-US" sz="580" dirty="0">
                <a:solidFill>
                  <a:srgbClr val="FDFD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SLA compliance</a:t>
            </a:r>
            <a:endParaRPr lang="en-US" sz="580" dirty="0"/>
          </a:p>
        </p:txBody>
      </p:sp>
      <p:sp>
        <p:nvSpPr>
          <p:cNvPr id="56" name="Text 52"/>
          <p:cNvSpPr/>
          <p:nvPr/>
        </p:nvSpPr>
        <p:spPr>
          <a:xfrm>
            <a:off x="6805092" y="3555876"/>
            <a:ext cx="339336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580" dirty="0"/>
          </a:p>
        </p:txBody>
      </p:sp>
      <p:sp>
        <p:nvSpPr>
          <p:cNvPr id="57" name="Text 53"/>
          <p:cNvSpPr/>
          <p:nvPr/>
        </p:nvSpPr>
        <p:spPr>
          <a:xfrm>
            <a:off x="6805092" y="3848770"/>
            <a:ext cx="625874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"/>
              </a:spcBef>
              <a:buNone/>
            </a:pPr>
            <a:r>
              <a:rPr lang="en-US" sz="580" dirty="0">
                <a:solidFill>
                  <a:srgbClr val="FDFD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open</a:t>
            </a:r>
            <a:endParaRPr lang="en-US" sz="580" dirty="0"/>
          </a:p>
        </p:txBody>
      </p:sp>
      <p:sp>
        <p:nvSpPr>
          <p:cNvPr id="58" name="Shape 54"/>
          <p:cNvSpPr/>
          <p:nvPr/>
        </p:nvSpPr>
        <p:spPr>
          <a:xfrm>
            <a:off x="366713" y="4732772"/>
            <a:ext cx="8410575" cy="204787"/>
          </a:xfrm>
          <a:prstGeom prst="rect">
            <a:avLst/>
          </a:prstGeom>
          <a:ln/>
        </p:spPr>
      </p:sp>
      <p:sp>
        <p:nvSpPr>
          <p:cNvPr id="59" name="Text 55"/>
          <p:cNvSpPr/>
          <p:nvPr/>
        </p:nvSpPr>
        <p:spPr>
          <a:xfrm>
            <a:off x="365745" y="4823892"/>
            <a:ext cx="2336884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 Security Program — Confidential</a:t>
            </a:r>
            <a:endParaRPr lang="en-US" sz="650" dirty="0"/>
          </a:p>
        </p:txBody>
      </p:sp>
      <p:sp>
        <p:nvSpPr>
          <p:cNvPr id="60" name="Text 56"/>
          <p:cNvSpPr/>
          <p:nvPr/>
        </p:nvSpPr>
        <p:spPr>
          <a:xfrm>
            <a:off x="8515648" y="4823892"/>
            <a:ext cx="39853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of 10</a:t>
            </a:r>
            <a:endParaRPr lang="en-US" sz="650" dirty="0"/>
          </a:p>
        </p:txBody>
      </p:sp>
      <p:pic>
        <p:nvPicPr>
          <p:cNvPr id="61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713" y="205271"/>
            <a:ext cx="8410575" cy="309562"/>
          </a:xfrm>
          <a:prstGeom prst="rect">
            <a:avLst/>
          </a:prstGeom>
        </p:spPr>
      </p:pic>
      <p:sp>
        <p:nvSpPr>
          <p:cNvPr id="62" name="Shape 57"/>
          <p:cNvSpPr/>
          <p:nvPr/>
        </p:nvSpPr>
        <p:spPr>
          <a:xfrm>
            <a:off x="4754389" y="2727573"/>
            <a:ext cx="4024312" cy="1328738"/>
          </a:xfrm>
          <a:prstGeom prst="roundRect">
            <a:avLst>
              <a:gd name="adj" fmla="val 5505"/>
            </a:avLst>
          </a:prstGeom>
          <a:ln w="4763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63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6713" y="4732772"/>
            <a:ext cx="8410575" cy="20478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" name="Shape 1"/>
          <p:cNvSpPr/>
          <p:nvPr/>
        </p:nvSpPr>
        <p:spPr>
          <a:xfrm>
            <a:off x="366713" y="205271"/>
            <a:ext cx="8410575" cy="309562"/>
          </a:xfrm>
          <a:prstGeom prst="rect">
            <a:avLst/>
          </a:prstGeom>
          <a:ln/>
        </p:spPr>
      </p:sp>
      <p:sp>
        <p:nvSpPr>
          <p:cNvPr id="4" name="Shape 2"/>
          <p:cNvSpPr/>
          <p:nvPr/>
        </p:nvSpPr>
        <p:spPr>
          <a:xfrm>
            <a:off x="366303" y="206239"/>
            <a:ext cx="200025" cy="200025"/>
          </a:xfrm>
          <a:prstGeom prst="roundRect">
            <a:avLst>
              <a:gd name="adj" fmla="val 18286"/>
            </a:avLst>
          </a:prstGeom>
          <a:solidFill>
            <a:srgbClr val="0D948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0989" y="250924"/>
            <a:ext cx="110579" cy="11057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35" y="238199"/>
            <a:ext cx="123290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AppSec Program</a:t>
            </a:r>
            <a:endParaRPr lang="en-US" sz="860" dirty="0"/>
          </a:p>
        </p:txBody>
      </p:sp>
      <p:sp>
        <p:nvSpPr>
          <p:cNvPr id="7" name="Text 4"/>
          <p:cNvSpPr/>
          <p:nvPr/>
        </p:nvSpPr>
        <p:spPr>
          <a:xfrm>
            <a:off x="6887394" y="247204"/>
            <a:ext cx="164791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VULNERABILITY OVERVIEW</a:t>
            </a:r>
            <a:endParaRPr lang="en-US" sz="720" dirty="0"/>
          </a:p>
        </p:txBody>
      </p:sp>
      <p:sp>
        <p:nvSpPr>
          <p:cNvPr id="8" name="Text 5"/>
          <p:cNvSpPr/>
          <p:nvPr/>
        </p:nvSpPr>
        <p:spPr>
          <a:xfrm>
            <a:off x="8293894" y="247204"/>
            <a:ext cx="68681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JULY 2026</a:t>
            </a:r>
            <a:endParaRPr lang="en-US" sz="720" dirty="0"/>
          </a:p>
        </p:txBody>
      </p:sp>
      <p:sp>
        <p:nvSpPr>
          <p:cNvPr id="9" name="Text 6"/>
          <p:cNvSpPr/>
          <p:nvPr/>
        </p:nvSpPr>
        <p:spPr>
          <a:xfrm>
            <a:off x="365745" y="960611"/>
            <a:ext cx="103275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03"/>
              </a:spcAft>
              <a:buNone/>
            </a:pPr>
            <a:r>
              <a:rPr lang="en-US" sz="650" b="1" spc="65" kern="0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FINDINGS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365745" y="1081162"/>
            <a:ext cx="4043444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60" b="1" spc="-22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Vulnerability Overview</a:t>
            </a:r>
            <a:endParaRPr lang="en-US" sz="2160" dirty="0"/>
          </a:p>
        </p:txBody>
      </p:sp>
      <p:sp>
        <p:nvSpPr>
          <p:cNvPr id="11" name="Text 8"/>
          <p:cNvSpPr/>
          <p:nvPr/>
        </p:nvSpPr>
        <p:spPr>
          <a:xfrm>
            <a:off x="7066300" y="595387"/>
            <a:ext cx="1711955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1,284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7301761" y="1109737"/>
            <a:ext cx="147649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open vulnerabilities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7529513" y="1287959"/>
            <a:ext cx="601787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178 closed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8203079" y="1287959"/>
            <a:ext cx="9275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8272239" y="1287959"/>
            <a:ext cx="50601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203 new</a:t>
            </a:r>
            <a:endParaRPr lang="en-US" sz="650" dirty="0"/>
          </a:p>
        </p:txBody>
      </p:sp>
      <p:sp>
        <p:nvSpPr>
          <p:cNvPr id="16" name="Shape 13"/>
          <p:cNvSpPr/>
          <p:nvPr/>
        </p:nvSpPr>
        <p:spPr>
          <a:xfrm>
            <a:off x="365745" y="1530176"/>
            <a:ext cx="2000250" cy="1014413"/>
          </a:xfrm>
          <a:prstGeom prst="roundRect">
            <a:avLst>
              <a:gd name="adj" fmla="val 7211"/>
            </a:avLst>
          </a:prstGeom>
          <a:solidFill>
            <a:srgbClr val="FFFFFF"/>
          </a:solidFill>
          <a:ln w="9525">
            <a:solidFill>
              <a:srgbClr val="FCA5A5"/>
            </a:solidFill>
            <a:prstDash val="solid"/>
          </a:ln>
          <a:effectLst>
            <a:outerShdw sx="100000" sy="100000" kx="0" ky="0" algn="bl" rotWithShape="0" blurRad="47625" dist="9525" dir="5400000">
              <a:srgbClr val="DC2626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12415" y="1652364"/>
            <a:ext cx="545001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05"/>
              </a:spcAft>
              <a:buNone/>
            </a:pPr>
            <a:r>
              <a:rPr lang="en-US" sz="580" b="1" spc="35" kern="0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</a:t>
            </a:r>
            <a:endParaRPr lang="en-US" sz="580" dirty="0"/>
          </a:p>
        </p:txBody>
      </p:sp>
      <p:sp>
        <p:nvSpPr>
          <p:cNvPr id="18" name="Text 15"/>
          <p:cNvSpPr/>
          <p:nvPr/>
        </p:nvSpPr>
        <p:spPr>
          <a:xfrm>
            <a:off x="512415" y="1761083"/>
            <a:ext cx="570250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2880" dirty="0"/>
          </a:p>
        </p:txBody>
      </p:sp>
      <p:sp>
        <p:nvSpPr>
          <p:cNvPr id="19" name="Text 16"/>
          <p:cNvSpPr/>
          <p:nvPr/>
        </p:nvSpPr>
        <p:spPr>
          <a:xfrm>
            <a:off x="512415" y="2230636"/>
            <a:ext cx="1085962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</a:t>
            </a:r>
            <a:pPr algn="l" indent="0" marL="0">
              <a:spcBef>
                <a:spcPts val="405"/>
              </a:spcBef>
              <a:buNone/>
            </a:pPr>
            <a:r>
              <a:rPr lang="en-US" sz="65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4 from last month</a:t>
            </a:r>
            <a:endParaRPr lang="en-US" sz="650" dirty="0"/>
          </a:p>
        </p:txBody>
      </p:sp>
      <p:sp>
        <p:nvSpPr>
          <p:cNvPr id="20" name="Shape 17"/>
          <p:cNvSpPr/>
          <p:nvPr/>
        </p:nvSpPr>
        <p:spPr>
          <a:xfrm>
            <a:off x="513383" y="2407183"/>
            <a:ext cx="1704975" cy="23812"/>
          </a:xfrm>
          <a:prstGeom prst="roundRect">
            <a:avLst>
              <a:gd name="adj" fmla="val 50001"/>
            </a:avLst>
          </a:prstGeom>
          <a:solidFill>
            <a:srgbClr val="FEE2E2"/>
          </a:solidFill>
          <a:ln/>
        </p:spPr>
      </p:sp>
      <p:sp>
        <p:nvSpPr>
          <p:cNvPr id="21" name="Shape 18"/>
          <p:cNvSpPr/>
          <p:nvPr/>
        </p:nvSpPr>
        <p:spPr>
          <a:xfrm>
            <a:off x="512415" y="2407183"/>
            <a:ext cx="204787" cy="23812"/>
          </a:xfrm>
          <a:prstGeom prst="roundRect">
            <a:avLst>
              <a:gd name="adj" fmla="val 50001"/>
            </a:avLst>
          </a:prstGeom>
          <a:solidFill>
            <a:srgbClr val="DC2626"/>
          </a:solidFill>
          <a:ln/>
        </p:spPr>
      </p:sp>
      <p:sp>
        <p:nvSpPr>
          <p:cNvPr id="22" name="Shape 19"/>
          <p:cNvSpPr/>
          <p:nvPr/>
        </p:nvSpPr>
        <p:spPr>
          <a:xfrm>
            <a:off x="2503140" y="1530176"/>
            <a:ext cx="2000250" cy="1014413"/>
          </a:xfrm>
          <a:prstGeom prst="roundRect">
            <a:avLst>
              <a:gd name="adj" fmla="val 7211"/>
            </a:avLst>
          </a:prstGeom>
          <a:solidFill>
            <a:srgbClr val="FFFFFF"/>
          </a:solidFill>
          <a:ln w="9525">
            <a:solidFill>
              <a:srgbClr val="FED7AA"/>
            </a:solidFill>
            <a:prstDash val="solid"/>
          </a:ln>
          <a:effectLst>
            <a:outerShdw sx="100000" sy="100000" kx="0" ky="0" algn="bl" rotWithShape="0" blurRad="47625" dist="9525" dir="5400000">
              <a:srgbClr val="EA580C">
                <a:alpha val="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2649810" y="1652364"/>
            <a:ext cx="320181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05"/>
              </a:spcAft>
              <a:buNone/>
            </a:pPr>
            <a:r>
              <a:rPr lang="en-US" sz="580" b="1" spc="35" kern="0" dirty="0">
                <a:solidFill>
                  <a:srgbClr val="EA58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580" dirty="0"/>
          </a:p>
        </p:txBody>
      </p:sp>
      <p:sp>
        <p:nvSpPr>
          <p:cNvPr id="24" name="Text 21"/>
          <p:cNvSpPr/>
          <p:nvPr/>
        </p:nvSpPr>
        <p:spPr>
          <a:xfrm>
            <a:off x="2649810" y="1761083"/>
            <a:ext cx="676178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EA58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</a:t>
            </a:r>
            <a:endParaRPr lang="en-US" sz="2880" dirty="0"/>
          </a:p>
        </p:txBody>
      </p:sp>
      <p:sp>
        <p:nvSpPr>
          <p:cNvPr id="25" name="Text 22"/>
          <p:cNvSpPr/>
          <p:nvPr/>
        </p:nvSpPr>
        <p:spPr>
          <a:xfrm>
            <a:off x="2649810" y="2230636"/>
            <a:ext cx="112833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</a:t>
            </a:r>
            <a:pPr algn="l" indent="0" marL="0">
              <a:spcBef>
                <a:spcPts val="405"/>
              </a:spcBef>
              <a:buNone/>
            </a:pPr>
            <a:r>
              <a:rPr lang="en-US" sz="65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19 from last month</a:t>
            </a:r>
            <a:endParaRPr lang="en-US" sz="650" dirty="0"/>
          </a:p>
        </p:txBody>
      </p:sp>
      <p:sp>
        <p:nvSpPr>
          <p:cNvPr id="26" name="Shape 23"/>
          <p:cNvSpPr/>
          <p:nvPr/>
        </p:nvSpPr>
        <p:spPr>
          <a:xfrm>
            <a:off x="2650778" y="2407183"/>
            <a:ext cx="1704975" cy="23812"/>
          </a:xfrm>
          <a:prstGeom prst="roundRect">
            <a:avLst>
              <a:gd name="adj" fmla="val 50001"/>
            </a:avLst>
          </a:prstGeom>
          <a:solidFill>
            <a:srgbClr val="FFEDD5"/>
          </a:solidFill>
          <a:ln/>
        </p:spPr>
      </p:sp>
      <p:sp>
        <p:nvSpPr>
          <p:cNvPr id="27" name="Shape 24"/>
          <p:cNvSpPr/>
          <p:nvPr/>
        </p:nvSpPr>
        <p:spPr>
          <a:xfrm>
            <a:off x="2648620" y="2407183"/>
            <a:ext cx="104775" cy="23812"/>
          </a:xfrm>
          <a:prstGeom prst="roundRect">
            <a:avLst>
              <a:gd name="adj" fmla="val 50001"/>
            </a:avLst>
          </a:prstGeom>
          <a:solidFill>
            <a:srgbClr val="EA580C"/>
          </a:solidFill>
          <a:ln/>
        </p:spPr>
      </p:sp>
      <p:sp>
        <p:nvSpPr>
          <p:cNvPr id="28" name="Shape 25"/>
          <p:cNvSpPr/>
          <p:nvPr/>
        </p:nvSpPr>
        <p:spPr>
          <a:xfrm>
            <a:off x="4640535" y="1530176"/>
            <a:ext cx="2000250" cy="1014413"/>
          </a:xfrm>
          <a:prstGeom prst="roundRect">
            <a:avLst>
              <a:gd name="adj" fmla="val 7211"/>
            </a:avLst>
          </a:prstGeom>
          <a:solidFill>
            <a:srgbClr val="FFFFFF"/>
          </a:solidFill>
          <a:ln w="9525">
            <a:solidFill>
              <a:srgbClr val="FDE68A"/>
            </a:solidFill>
            <a:prstDash val="solid"/>
          </a:ln>
          <a:effectLst>
            <a:outerShdw sx="100000" sy="100000" kx="0" ky="0" algn="bl" rotWithShape="0" blurRad="47625" dist="9525" dir="5400000">
              <a:srgbClr val="CA8A04">
                <a:alpha val="8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4787205" y="1652364"/>
            <a:ext cx="491311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05"/>
              </a:spcAft>
              <a:buNone/>
            </a:pPr>
            <a:r>
              <a:rPr lang="en-US" sz="580" b="1" spc="35" kern="0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</a:t>
            </a:r>
            <a:endParaRPr lang="en-US" sz="580" dirty="0"/>
          </a:p>
        </p:txBody>
      </p:sp>
      <p:sp>
        <p:nvSpPr>
          <p:cNvPr id="30" name="Text 27"/>
          <p:cNvSpPr/>
          <p:nvPr/>
        </p:nvSpPr>
        <p:spPr>
          <a:xfrm>
            <a:off x="4787205" y="1761083"/>
            <a:ext cx="909027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614</a:t>
            </a:r>
            <a:endParaRPr lang="en-US" sz="2880" dirty="0"/>
          </a:p>
        </p:txBody>
      </p:sp>
      <p:sp>
        <p:nvSpPr>
          <p:cNvPr id="31" name="Text 28"/>
          <p:cNvSpPr/>
          <p:nvPr/>
        </p:nvSpPr>
        <p:spPr>
          <a:xfrm>
            <a:off x="4787205" y="2230636"/>
            <a:ext cx="112794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</a:t>
            </a:r>
            <a:pPr algn="l" indent="0" marL="0">
              <a:spcBef>
                <a:spcPts val="405"/>
              </a:spcBef>
              <a:buNone/>
            </a:pPr>
            <a:r>
              <a:rPr lang="en-US" sz="65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31 from last month</a:t>
            </a:r>
            <a:endParaRPr lang="en-US" sz="650" dirty="0"/>
          </a:p>
        </p:txBody>
      </p:sp>
      <p:sp>
        <p:nvSpPr>
          <p:cNvPr id="32" name="Shape 29"/>
          <p:cNvSpPr/>
          <p:nvPr/>
        </p:nvSpPr>
        <p:spPr>
          <a:xfrm>
            <a:off x="4788173" y="2407183"/>
            <a:ext cx="1704975" cy="23812"/>
          </a:xfrm>
          <a:prstGeom prst="roundRect">
            <a:avLst>
              <a:gd name="adj" fmla="val 50001"/>
            </a:avLst>
          </a:prstGeom>
          <a:solidFill>
            <a:srgbClr val="FEF9C3"/>
          </a:solidFill>
          <a:ln/>
        </p:spPr>
      </p:sp>
      <p:sp>
        <p:nvSpPr>
          <p:cNvPr id="33" name="Shape 30"/>
          <p:cNvSpPr/>
          <p:nvPr/>
        </p:nvSpPr>
        <p:spPr>
          <a:xfrm>
            <a:off x="4787280" y="2407183"/>
            <a:ext cx="819150" cy="23812"/>
          </a:xfrm>
          <a:prstGeom prst="roundRect">
            <a:avLst>
              <a:gd name="adj" fmla="val 50001"/>
            </a:avLst>
          </a:prstGeom>
          <a:solidFill>
            <a:srgbClr val="B45309"/>
          </a:solidFill>
          <a:ln/>
        </p:spPr>
      </p:sp>
      <p:sp>
        <p:nvSpPr>
          <p:cNvPr id="34" name="Shape 31"/>
          <p:cNvSpPr/>
          <p:nvPr/>
        </p:nvSpPr>
        <p:spPr>
          <a:xfrm>
            <a:off x="6777968" y="1530176"/>
            <a:ext cx="2000250" cy="1014413"/>
          </a:xfrm>
          <a:prstGeom prst="roundRect">
            <a:avLst>
              <a:gd name="adj" fmla="val 7211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47625" dist="9525" dir="5400000">
              <a:srgbClr val="1E3A5F">
                <a:alpha val="5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6919838" y="1647602"/>
            <a:ext cx="645125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05"/>
              </a:spcAft>
              <a:buNone/>
            </a:pPr>
            <a:r>
              <a:rPr lang="en-US" sz="580" b="1" spc="35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/ INFO</a:t>
            </a:r>
            <a:endParaRPr lang="en-US" sz="580" dirty="0"/>
          </a:p>
        </p:txBody>
      </p:sp>
      <p:sp>
        <p:nvSpPr>
          <p:cNvPr id="36" name="Text 33"/>
          <p:cNvSpPr/>
          <p:nvPr/>
        </p:nvSpPr>
        <p:spPr>
          <a:xfrm>
            <a:off x="6919838" y="1756321"/>
            <a:ext cx="945207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576</a:t>
            </a:r>
            <a:endParaRPr lang="en-US" sz="2880" dirty="0"/>
          </a:p>
        </p:txBody>
      </p:sp>
      <p:sp>
        <p:nvSpPr>
          <p:cNvPr id="37" name="Text 34"/>
          <p:cNvSpPr/>
          <p:nvPr/>
        </p:nvSpPr>
        <p:spPr>
          <a:xfrm>
            <a:off x="6919838" y="2225873"/>
            <a:ext cx="107628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</a:t>
            </a:r>
            <a:pPr algn="l" indent="0" marL="0">
              <a:spcBef>
                <a:spcPts val="405"/>
              </a:spcBef>
              <a:buNone/>
            </a:pPr>
            <a:r>
              <a:rPr lang="en-US" sz="65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7 from last month</a:t>
            </a:r>
            <a:endParaRPr lang="en-US" sz="650" dirty="0"/>
          </a:p>
        </p:txBody>
      </p:sp>
      <p:sp>
        <p:nvSpPr>
          <p:cNvPr id="38" name="Shape 35"/>
          <p:cNvSpPr/>
          <p:nvPr/>
        </p:nvSpPr>
        <p:spPr>
          <a:xfrm>
            <a:off x="6920843" y="2402421"/>
            <a:ext cx="1714500" cy="23812"/>
          </a:xfrm>
          <a:prstGeom prst="roundRect">
            <a:avLst>
              <a:gd name="adj" fmla="val 50001"/>
            </a:avLst>
          </a:prstGeom>
          <a:solidFill>
            <a:srgbClr val="F1F5F9"/>
          </a:solidFill>
          <a:ln/>
        </p:spPr>
      </p:sp>
      <p:sp>
        <p:nvSpPr>
          <p:cNvPr id="39" name="Shape 36"/>
          <p:cNvSpPr/>
          <p:nvPr/>
        </p:nvSpPr>
        <p:spPr>
          <a:xfrm>
            <a:off x="6920285" y="2402421"/>
            <a:ext cx="771525" cy="23812"/>
          </a:xfrm>
          <a:prstGeom prst="roundRect">
            <a:avLst>
              <a:gd name="adj" fmla="val 50001"/>
            </a:avLst>
          </a:prstGeom>
          <a:solidFill>
            <a:srgbClr val="94A3B8"/>
          </a:solidFill>
          <a:ln/>
        </p:spPr>
      </p:sp>
      <p:sp>
        <p:nvSpPr>
          <p:cNvPr id="40" name="Shape 37"/>
          <p:cNvSpPr/>
          <p:nvPr/>
        </p:nvSpPr>
        <p:spPr>
          <a:xfrm>
            <a:off x="366713" y="2646797"/>
            <a:ext cx="8410575" cy="776287"/>
          </a:xfrm>
          <a:prstGeom prst="roundRect">
            <a:avLst>
              <a:gd name="adj" fmla="val 9423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47625" dist="9525" dir="5400000">
              <a:srgbClr val="1E3A5F">
                <a:alpha val="5000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599108" y="2764259"/>
            <a:ext cx="116693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729"/>
              </a:spcAft>
              <a:buNone/>
            </a:pPr>
            <a:r>
              <a:rPr lang="en-US" sz="7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Findings by Source</a:t>
            </a:r>
            <a:endParaRPr lang="en-US" sz="720" dirty="0"/>
          </a:p>
        </p:txBody>
      </p:sp>
      <p:sp>
        <p:nvSpPr>
          <p:cNvPr id="42" name="Text 39"/>
          <p:cNvSpPr/>
          <p:nvPr/>
        </p:nvSpPr>
        <p:spPr>
          <a:xfrm>
            <a:off x="599108" y="2993975"/>
            <a:ext cx="341657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SAST</a:t>
            </a:r>
            <a:endParaRPr lang="en-US" sz="650" dirty="0"/>
          </a:p>
        </p:txBody>
      </p:sp>
      <p:sp>
        <p:nvSpPr>
          <p:cNvPr id="43" name="Text 40"/>
          <p:cNvSpPr/>
          <p:nvPr/>
        </p:nvSpPr>
        <p:spPr>
          <a:xfrm>
            <a:off x="2258244" y="2993975"/>
            <a:ext cx="30431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38%</a:t>
            </a:r>
            <a:endParaRPr lang="en-US" sz="650" dirty="0"/>
          </a:p>
        </p:txBody>
      </p:sp>
      <p:sp>
        <p:nvSpPr>
          <p:cNvPr id="44" name="Shape 41"/>
          <p:cNvSpPr/>
          <p:nvPr/>
        </p:nvSpPr>
        <p:spPr>
          <a:xfrm>
            <a:off x="599815" y="3137818"/>
            <a:ext cx="1847850" cy="42863"/>
          </a:xfrm>
          <a:prstGeom prst="roundRect">
            <a:avLst>
              <a:gd name="adj" fmla="val 49999"/>
            </a:avLst>
          </a:prstGeom>
          <a:solidFill>
            <a:srgbClr val="E2E8F0"/>
          </a:solidFill>
          <a:ln/>
        </p:spPr>
      </p:sp>
      <p:sp>
        <p:nvSpPr>
          <p:cNvPr id="45" name="Shape 42"/>
          <p:cNvSpPr/>
          <p:nvPr/>
        </p:nvSpPr>
        <p:spPr>
          <a:xfrm>
            <a:off x="598029" y="3137818"/>
            <a:ext cx="704850" cy="42863"/>
          </a:xfrm>
          <a:prstGeom prst="roundRect">
            <a:avLst>
              <a:gd name="adj" fmla="val 49999"/>
            </a:avLst>
          </a:prstGeom>
          <a:solidFill>
            <a:srgbClr val="0D9488"/>
          </a:solidFill>
          <a:ln/>
        </p:spPr>
      </p:sp>
      <p:sp>
        <p:nvSpPr>
          <p:cNvPr id="46" name="Text 43"/>
          <p:cNvSpPr/>
          <p:nvPr/>
        </p:nvSpPr>
        <p:spPr>
          <a:xfrm>
            <a:off x="599108" y="3214985"/>
            <a:ext cx="618426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03"/>
              </a:spcBef>
              <a:buNone/>
            </a:pPr>
            <a:r>
              <a:rPr lang="en-US" sz="5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487 findings</a:t>
            </a:r>
            <a:endParaRPr lang="en-US" sz="580" dirty="0"/>
          </a:p>
        </p:txBody>
      </p:sp>
      <p:sp>
        <p:nvSpPr>
          <p:cNvPr id="47" name="Text 44"/>
          <p:cNvSpPr/>
          <p:nvPr/>
        </p:nvSpPr>
        <p:spPr>
          <a:xfrm>
            <a:off x="2631207" y="2993975"/>
            <a:ext cx="346204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DAST</a:t>
            </a:r>
            <a:endParaRPr lang="en-US" sz="650" dirty="0"/>
          </a:p>
        </p:txBody>
      </p:sp>
      <p:sp>
        <p:nvSpPr>
          <p:cNvPr id="48" name="Text 45"/>
          <p:cNvSpPr/>
          <p:nvPr/>
        </p:nvSpPr>
        <p:spPr>
          <a:xfrm>
            <a:off x="4297412" y="2993975"/>
            <a:ext cx="29522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27%</a:t>
            </a:r>
            <a:endParaRPr lang="en-US" sz="650" dirty="0"/>
          </a:p>
        </p:txBody>
      </p:sp>
      <p:sp>
        <p:nvSpPr>
          <p:cNvPr id="49" name="Shape 46"/>
          <p:cNvSpPr/>
          <p:nvPr/>
        </p:nvSpPr>
        <p:spPr>
          <a:xfrm>
            <a:off x="2631951" y="3137818"/>
            <a:ext cx="1847850" cy="42863"/>
          </a:xfrm>
          <a:prstGeom prst="roundRect">
            <a:avLst>
              <a:gd name="adj" fmla="val 49999"/>
            </a:avLst>
          </a:prstGeom>
          <a:solidFill>
            <a:srgbClr val="E2E8F0"/>
          </a:solidFill>
          <a:ln/>
        </p:spPr>
      </p:sp>
      <p:sp>
        <p:nvSpPr>
          <p:cNvPr id="50" name="Shape 47"/>
          <p:cNvSpPr/>
          <p:nvPr/>
        </p:nvSpPr>
        <p:spPr>
          <a:xfrm>
            <a:off x="2630835" y="3137818"/>
            <a:ext cx="500063" cy="42863"/>
          </a:xfrm>
          <a:prstGeom prst="roundRect">
            <a:avLst>
              <a:gd name="adj" fmla="val 49999"/>
            </a:avLst>
          </a:prstGeom>
          <a:solidFill>
            <a:srgbClr val="1E3A5F"/>
          </a:solidFill>
          <a:ln/>
        </p:spPr>
      </p:sp>
      <p:sp>
        <p:nvSpPr>
          <p:cNvPr id="51" name="Text 48"/>
          <p:cNvSpPr/>
          <p:nvPr/>
        </p:nvSpPr>
        <p:spPr>
          <a:xfrm>
            <a:off x="2631207" y="3214985"/>
            <a:ext cx="623456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03"/>
              </a:spcBef>
              <a:buNone/>
            </a:pPr>
            <a:r>
              <a:rPr lang="en-US" sz="5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346 findings</a:t>
            </a:r>
            <a:endParaRPr lang="en-US" sz="580" dirty="0"/>
          </a:p>
        </p:txBody>
      </p:sp>
      <p:sp>
        <p:nvSpPr>
          <p:cNvPr id="52" name="Text 49"/>
          <p:cNvSpPr/>
          <p:nvPr/>
        </p:nvSpPr>
        <p:spPr>
          <a:xfrm>
            <a:off x="4663380" y="2993975"/>
            <a:ext cx="280615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</a:t>
            </a:r>
            <a:endParaRPr lang="en-US" sz="650" dirty="0"/>
          </a:p>
        </p:txBody>
      </p:sp>
      <p:sp>
        <p:nvSpPr>
          <p:cNvPr id="53" name="Text 50"/>
          <p:cNvSpPr/>
          <p:nvPr/>
        </p:nvSpPr>
        <p:spPr>
          <a:xfrm>
            <a:off x="6326237" y="2993975"/>
            <a:ext cx="29957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25%</a:t>
            </a:r>
            <a:endParaRPr lang="en-US" sz="650" dirty="0"/>
          </a:p>
        </p:txBody>
      </p:sp>
      <p:sp>
        <p:nvSpPr>
          <p:cNvPr id="54" name="Shape 51"/>
          <p:cNvSpPr/>
          <p:nvPr/>
        </p:nvSpPr>
        <p:spPr>
          <a:xfrm>
            <a:off x="4664125" y="3137818"/>
            <a:ext cx="1847850" cy="42863"/>
          </a:xfrm>
          <a:prstGeom prst="roundRect">
            <a:avLst>
              <a:gd name="adj" fmla="val 49999"/>
            </a:avLst>
          </a:prstGeom>
          <a:solidFill>
            <a:srgbClr val="E2E8F0"/>
          </a:solidFill>
          <a:ln/>
        </p:spPr>
      </p:sp>
      <p:sp>
        <p:nvSpPr>
          <p:cNvPr id="55" name="Shape 52"/>
          <p:cNvSpPr/>
          <p:nvPr/>
        </p:nvSpPr>
        <p:spPr>
          <a:xfrm>
            <a:off x="4663567" y="3137818"/>
            <a:ext cx="461962" cy="42863"/>
          </a:xfrm>
          <a:prstGeom prst="roundRect">
            <a:avLst>
              <a:gd name="adj" fmla="val 49999"/>
            </a:avLst>
          </a:prstGeom>
          <a:solidFill>
            <a:srgbClr val="DC2626"/>
          </a:solidFill>
          <a:ln/>
        </p:spPr>
      </p:sp>
      <p:sp>
        <p:nvSpPr>
          <p:cNvPr id="56" name="Text 53"/>
          <p:cNvSpPr/>
          <p:nvPr/>
        </p:nvSpPr>
        <p:spPr>
          <a:xfrm>
            <a:off x="4663380" y="3214985"/>
            <a:ext cx="875846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03"/>
              </a:spcBef>
              <a:buNone/>
            </a:pPr>
            <a:r>
              <a:rPr lang="en-US" sz="58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+22% MoM surge</a:t>
            </a:r>
            <a:endParaRPr lang="en-US" sz="580" dirty="0"/>
          </a:p>
        </p:txBody>
      </p:sp>
      <p:sp>
        <p:nvSpPr>
          <p:cNvPr id="57" name="Text 54"/>
          <p:cNvSpPr/>
          <p:nvPr/>
        </p:nvSpPr>
        <p:spPr>
          <a:xfrm>
            <a:off x="6695554" y="2993975"/>
            <a:ext cx="450294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Pentest</a:t>
            </a:r>
            <a:endParaRPr lang="en-US" sz="650" dirty="0"/>
          </a:p>
        </p:txBody>
      </p:sp>
      <p:sp>
        <p:nvSpPr>
          <p:cNvPr id="58" name="Text 55"/>
          <p:cNvSpPr/>
          <p:nvPr/>
        </p:nvSpPr>
        <p:spPr>
          <a:xfrm>
            <a:off x="8370466" y="2993975"/>
            <a:ext cx="283905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</a:t>
            </a:r>
            <a:endParaRPr lang="en-US" sz="650" dirty="0"/>
          </a:p>
        </p:txBody>
      </p:sp>
      <p:sp>
        <p:nvSpPr>
          <p:cNvPr id="59" name="Shape 56"/>
          <p:cNvSpPr/>
          <p:nvPr/>
        </p:nvSpPr>
        <p:spPr>
          <a:xfrm>
            <a:off x="6696298" y="3137818"/>
            <a:ext cx="1847850" cy="42863"/>
          </a:xfrm>
          <a:prstGeom prst="roundRect">
            <a:avLst>
              <a:gd name="adj" fmla="val 49999"/>
            </a:avLst>
          </a:prstGeom>
          <a:solidFill>
            <a:srgbClr val="E2E8F0"/>
          </a:solidFill>
          <a:ln/>
        </p:spPr>
      </p:sp>
      <p:sp>
        <p:nvSpPr>
          <p:cNvPr id="60" name="Shape 57"/>
          <p:cNvSpPr/>
          <p:nvPr/>
        </p:nvSpPr>
        <p:spPr>
          <a:xfrm>
            <a:off x="6695145" y="3137818"/>
            <a:ext cx="185738" cy="42863"/>
          </a:xfrm>
          <a:prstGeom prst="roundRect">
            <a:avLst>
              <a:gd name="adj" fmla="val 49999"/>
            </a:avLst>
          </a:prstGeom>
          <a:solidFill>
            <a:srgbClr val="94A3B8"/>
          </a:solidFill>
          <a:ln/>
        </p:spPr>
      </p:sp>
      <p:sp>
        <p:nvSpPr>
          <p:cNvPr id="61" name="Text 58"/>
          <p:cNvSpPr/>
          <p:nvPr/>
        </p:nvSpPr>
        <p:spPr>
          <a:xfrm>
            <a:off x="6695554" y="3214985"/>
            <a:ext cx="809871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03"/>
              </a:spcBef>
              <a:buNone/>
            </a:pPr>
            <a:r>
              <a:rPr lang="en-US" sz="5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/ pentest</a:t>
            </a:r>
            <a:endParaRPr lang="en-US" sz="580" dirty="0"/>
          </a:p>
        </p:txBody>
      </p:sp>
      <p:sp>
        <p:nvSpPr>
          <p:cNvPr id="62" name="Shape 59"/>
          <p:cNvSpPr/>
          <p:nvPr/>
        </p:nvSpPr>
        <p:spPr>
          <a:xfrm>
            <a:off x="366713" y="4732772"/>
            <a:ext cx="8410575" cy="204787"/>
          </a:xfrm>
          <a:prstGeom prst="rect">
            <a:avLst/>
          </a:prstGeom>
          <a:ln/>
        </p:spPr>
      </p:sp>
      <p:sp>
        <p:nvSpPr>
          <p:cNvPr id="63" name="Text 60"/>
          <p:cNvSpPr/>
          <p:nvPr/>
        </p:nvSpPr>
        <p:spPr>
          <a:xfrm>
            <a:off x="365745" y="4823892"/>
            <a:ext cx="2336884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 Security Program — Confidential</a:t>
            </a:r>
            <a:endParaRPr lang="en-US" sz="650" dirty="0"/>
          </a:p>
        </p:txBody>
      </p:sp>
      <p:sp>
        <p:nvSpPr>
          <p:cNvPr id="64" name="Text 61"/>
          <p:cNvSpPr/>
          <p:nvPr/>
        </p:nvSpPr>
        <p:spPr>
          <a:xfrm>
            <a:off x="8514755" y="4823892"/>
            <a:ext cx="39970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of 10</a:t>
            </a:r>
            <a:endParaRPr lang="en-US" sz="650" dirty="0"/>
          </a:p>
        </p:txBody>
      </p:sp>
      <p:pic>
        <p:nvPicPr>
          <p:cNvPr id="6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713" y="205271"/>
            <a:ext cx="8410575" cy="309562"/>
          </a:xfrm>
          <a:prstGeom prst="rect">
            <a:avLst/>
          </a:prstGeom>
        </p:spPr>
      </p:pic>
      <p:pic>
        <p:nvPicPr>
          <p:cNvPr id="6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713" y="4732772"/>
            <a:ext cx="8410575" cy="20478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" name="Shape 1"/>
          <p:cNvSpPr/>
          <p:nvPr/>
        </p:nvSpPr>
        <p:spPr>
          <a:xfrm>
            <a:off x="366713" y="205271"/>
            <a:ext cx="8410575" cy="309562"/>
          </a:xfrm>
          <a:prstGeom prst="rect">
            <a:avLst/>
          </a:prstGeom>
          <a:ln/>
        </p:spPr>
      </p:sp>
      <p:sp>
        <p:nvSpPr>
          <p:cNvPr id="4" name="Shape 2"/>
          <p:cNvSpPr/>
          <p:nvPr/>
        </p:nvSpPr>
        <p:spPr>
          <a:xfrm>
            <a:off x="366303" y="206239"/>
            <a:ext cx="200025" cy="200025"/>
          </a:xfrm>
          <a:prstGeom prst="roundRect">
            <a:avLst>
              <a:gd name="adj" fmla="val 18286"/>
            </a:avLst>
          </a:prstGeom>
          <a:solidFill>
            <a:srgbClr val="0D948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0989" y="250924"/>
            <a:ext cx="110579" cy="11057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35" y="238199"/>
            <a:ext cx="123290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AppSec Program</a:t>
            </a:r>
            <a:endParaRPr lang="en-US" sz="860" dirty="0"/>
          </a:p>
        </p:txBody>
      </p:sp>
      <p:sp>
        <p:nvSpPr>
          <p:cNvPr id="7" name="Text 4"/>
          <p:cNvSpPr/>
          <p:nvPr/>
        </p:nvSpPr>
        <p:spPr>
          <a:xfrm>
            <a:off x="6766917" y="247204"/>
            <a:ext cx="180453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REMEDIATION PERFORMANCE</a:t>
            </a:r>
            <a:endParaRPr lang="en-US" sz="720" dirty="0"/>
          </a:p>
        </p:txBody>
      </p:sp>
      <p:sp>
        <p:nvSpPr>
          <p:cNvPr id="8" name="Text 5"/>
          <p:cNvSpPr/>
          <p:nvPr/>
        </p:nvSpPr>
        <p:spPr>
          <a:xfrm>
            <a:off x="8293894" y="247204"/>
            <a:ext cx="68681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JULY 2026</a:t>
            </a:r>
            <a:endParaRPr lang="en-US" sz="720" dirty="0"/>
          </a:p>
        </p:txBody>
      </p:sp>
      <p:sp>
        <p:nvSpPr>
          <p:cNvPr id="9" name="Text 6"/>
          <p:cNvSpPr/>
          <p:nvPr/>
        </p:nvSpPr>
        <p:spPr>
          <a:xfrm>
            <a:off x="365745" y="652537"/>
            <a:ext cx="985644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03"/>
              </a:spcAft>
              <a:buNone/>
            </a:pPr>
            <a:r>
              <a:rPr lang="en-US" sz="650" b="1" spc="65" kern="0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SLA TRACKING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365745" y="773088"/>
            <a:ext cx="465396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Remediation Performance</a:t>
            </a:r>
            <a:endParaRPr lang="en-US" sz="2160" dirty="0"/>
          </a:p>
        </p:txBody>
      </p:sp>
      <p:sp>
        <p:nvSpPr>
          <p:cNvPr id="11" name="Shape 8"/>
          <p:cNvSpPr/>
          <p:nvPr/>
        </p:nvSpPr>
        <p:spPr>
          <a:xfrm>
            <a:off x="365187" y="1221432"/>
            <a:ext cx="4829175" cy="1404938"/>
          </a:xfrm>
          <a:prstGeom prst="roundRect">
            <a:avLst>
              <a:gd name="adj" fmla="val 5207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47625" dist="9525" dir="5400000">
              <a:srgbClr val="1E3A5F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9950" y="1226232"/>
            <a:ext cx="4819650" cy="30003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Text 10"/>
          <p:cNvSpPr/>
          <p:nvPr/>
        </p:nvSpPr>
        <p:spPr>
          <a:xfrm>
            <a:off x="507653" y="1313780"/>
            <a:ext cx="2049378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 Time to Remediate (MTTR)</a:t>
            </a:r>
            <a:endParaRPr lang="en-US" sz="760" dirty="0"/>
          </a:p>
        </p:txBody>
      </p:sp>
      <p:sp>
        <p:nvSpPr>
          <p:cNvPr id="14" name="Text 11"/>
          <p:cNvSpPr/>
          <p:nvPr/>
        </p:nvSpPr>
        <p:spPr>
          <a:xfrm>
            <a:off x="4639791" y="1327472"/>
            <a:ext cx="592887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A5B0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Severity</a:t>
            </a:r>
            <a:endParaRPr lang="en-US" sz="61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9950" y="1525302"/>
          <a:ext cx="4819650" cy="914400"/>
        </p:xfrm>
        <a:graphic>
          <a:graphicData uri="http://schemas.openxmlformats.org/drawingml/2006/table">
            <a:tbl>
              <a:tblPr/>
              <a:tblGrid>
                <a:gridCol w="916558"/>
                <a:gridCol w="858962"/>
                <a:gridCol w="1053257"/>
                <a:gridCol w="1031304"/>
                <a:gridCol w="958453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864"/>
                        </a:lnSpc>
                        <a:buNone/>
                      </a:pPr>
                      <a:r>
                        <a:rPr lang="en-US" sz="580" b="1" spc="35" kern="0" dirty="0">
                          <a:solidFill>
                            <a:srgbClr val="64748B"/>
                          </a:solidFill>
                          <a:highlight>
                            <a:srgbClr val="F8FAFC"/>
                          </a:highlight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SEVERITY</a:t>
                      </a:r>
                      <a:endParaRPr lang="en-US" sz="5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1923" marR="141923" marT="66485" marB="6648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864"/>
                        </a:lnSpc>
                        <a:buNone/>
                      </a:pPr>
                      <a:r>
                        <a:rPr lang="en-US" sz="580" b="1" spc="35" kern="0" dirty="0">
                          <a:solidFill>
                            <a:srgbClr val="64748B"/>
                          </a:solidFill>
                          <a:highlight>
                            <a:srgbClr val="F8FAFC"/>
                          </a:highlight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MTTR</a:t>
                      </a:r>
                      <a:endParaRPr lang="en-US" sz="5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1923" marR="141923" marT="66485" marB="6648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864"/>
                        </a:lnSpc>
                        <a:buNone/>
                      </a:pPr>
                      <a:r>
                        <a:rPr lang="en-US" sz="580" b="1" spc="35" kern="0" dirty="0">
                          <a:solidFill>
                            <a:srgbClr val="64748B"/>
                          </a:solidFill>
                          <a:highlight>
                            <a:srgbClr val="F8FAFC"/>
                          </a:highlight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SLA TARGET</a:t>
                      </a:r>
                      <a:endParaRPr lang="en-US" sz="5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1923" marR="141923" marT="66485" marB="6648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864"/>
                        </a:lnSpc>
                        <a:buNone/>
                      </a:pPr>
                      <a:r>
                        <a:rPr lang="en-US" sz="580" b="1" spc="35" kern="0" dirty="0">
                          <a:solidFill>
                            <a:srgbClr val="64748B"/>
                          </a:solidFill>
                          <a:highlight>
                            <a:srgbClr val="F8FAFC"/>
                          </a:highlight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STATUS</a:t>
                      </a:r>
                      <a:endParaRPr lang="en-US" sz="5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1923" marR="141923" marT="66485" marB="6648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864"/>
                        </a:lnSpc>
                        <a:buNone/>
                      </a:pPr>
                      <a:r>
                        <a:rPr lang="en-US" sz="580" b="1" spc="35" kern="0" dirty="0">
                          <a:solidFill>
                            <a:srgbClr val="64748B"/>
                          </a:solidFill>
                          <a:highlight>
                            <a:srgbClr val="F8FAFC"/>
                          </a:highlight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BREACHES</a:t>
                      </a:r>
                      <a:endParaRPr lang="en-US" sz="5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1923" marR="141923" marT="66485" marB="6648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720" b="1" dirty="0">
                          <a:solidFill>
                            <a:srgbClr val="DC26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Critical</a:t>
                      </a:r>
                      <a:endParaRPr lang="en-US" sz="72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1923" marR="141923" marT="76771" marB="7677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763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720" b="1" dirty="0">
                          <a:solidFill>
                            <a:srgbClr val="1E3A5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11 days</a:t>
                      </a:r>
                      <a:endParaRPr lang="en-US" sz="72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1923" marR="141923" marT="76771" marB="7677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763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720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 days</a:t>
                      </a:r>
                      <a:endParaRPr lang="en-US" sz="72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1923" marR="141923" marT="76771" marB="7677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763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918"/>
                        </a:lnSpc>
                        <a:buNone/>
                      </a:pPr>
                      <a:r>
                        <a:rPr lang="en-US" sz="610" b="1" dirty="0">
                          <a:solidFill>
                            <a:srgbClr val="DC26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Over SLA</a:t>
                      </a:r>
                      <a:endParaRPr lang="en-US" sz="72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1923" marR="141923" marT="76771" marB="7677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763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720" b="1" dirty="0">
                          <a:solidFill>
                            <a:srgbClr val="DC26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endParaRPr lang="en-US" sz="72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1923" marR="141923" marT="76771" marB="7677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763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720" b="1" dirty="0">
                          <a:solidFill>
                            <a:srgbClr val="EA580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High</a:t>
                      </a:r>
                      <a:endParaRPr lang="en-US" sz="72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1923" marR="141923" marT="76771" marB="7677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763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720" b="1" dirty="0">
                          <a:solidFill>
                            <a:srgbClr val="1E3A5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24 days</a:t>
                      </a:r>
                      <a:endParaRPr lang="en-US" sz="72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1923" marR="141923" marT="76771" marB="7677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763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720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30 days</a:t>
                      </a:r>
                      <a:endParaRPr lang="en-US" sz="72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1923" marR="141923" marT="76771" marB="7677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763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918"/>
                        </a:lnSpc>
                        <a:buNone/>
                      </a:pPr>
                      <a:r>
                        <a:rPr lang="en-US" sz="610" b="1" dirty="0">
                          <a:solidFill>
                            <a:srgbClr val="0D948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 Track</a:t>
                      </a:r>
                      <a:endParaRPr lang="en-US" sz="72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1923" marR="141923" marT="76771" marB="7677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763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720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</a:t>
                      </a:r>
                      <a:endParaRPr lang="en-US" sz="72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1923" marR="141923" marT="76771" marB="7677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763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720" b="1" dirty="0">
                          <a:solidFill>
                            <a:srgbClr val="B4530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Medium</a:t>
                      </a:r>
                      <a:endParaRPr lang="en-US" sz="72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1923" marR="141923" marT="76771" marB="7677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720" b="1" dirty="0">
                          <a:solidFill>
                            <a:srgbClr val="1E3A5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68 days</a:t>
                      </a:r>
                      <a:endParaRPr lang="en-US" sz="72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1923" marR="141923" marT="76771" marB="7677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720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90 days</a:t>
                      </a:r>
                      <a:endParaRPr lang="en-US" sz="72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1923" marR="141923" marT="76771" marB="7677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918"/>
                        </a:lnSpc>
                        <a:buNone/>
                      </a:pPr>
                      <a:r>
                        <a:rPr lang="en-US" sz="610" b="1" dirty="0">
                          <a:solidFill>
                            <a:srgbClr val="0D948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 Track</a:t>
                      </a:r>
                      <a:endParaRPr lang="en-US" sz="72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1923" marR="141923" marT="76771" marB="7677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720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</a:t>
                      </a:r>
                      <a:endParaRPr lang="en-US" sz="72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1923" marR="141923" marT="76771" marB="7677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6" name="Shape 12"/>
          <p:cNvSpPr/>
          <p:nvPr/>
        </p:nvSpPr>
        <p:spPr>
          <a:xfrm>
            <a:off x="365187" y="2729285"/>
            <a:ext cx="4829175" cy="638175"/>
          </a:xfrm>
          <a:prstGeom prst="roundRect">
            <a:avLst>
              <a:gd name="adj" fmla="val 11463"/>
            </a:avLst>
          </a:prstGeom>
          <a:solidFill>
            <a:srgbClr val="FFFFFF"/>
          </a:solidFill>
          <a:ln w="4763">
            <a:solidFill>
              <a:srgbClr val="FCA5A5"/>
            </a:solidFill>
            <a:prstDash val="solid"/>
          </a:ln>
          <a:effectLst>
            <a:outerShdw sx="100000" sy="100000" kx="0" ky="0" algn="bl" rotWithShape="0" blurRad="47625" dist="9525" dir="5400000">
              <a:srgbClr val="DC2626">
                <a:alpha val="6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553343" y="2835101"/>
            <a:ext cx="1053845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610" b="1" spc="37" kern="0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BOTTLENECK</a:t>
            </a:r>
            <a:endParaRPr lang="en-US" sz="610" dirty="0"/>
          </a:p>
        </p:txBody>
      </p:sp>
      <p:sp>
        <p:nvSpPr>
          <p:cNvPr id="18" name="Text 14"/>
          <p:cNvSpPr/>
          <p:nvPr/>
        </p:nvSpPr>
        <p:spPr>
          <a:xfrm>
            <a:off x="553343" y="2992710"/>
            <a:ext cx="1439153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Payment-service team</a:t>
            </a:r>
            <a:endParaRPr lang="en-US" sz="760" dirty="0"/>
          </a:p>
        </p:txBody>
      </p:sp>
      <p:sp>
        <p:nvSpPr>
          <p:cNvPr id="19" name="Text 15"/>
          <p:cNvSpPr/>
          <p:nvPr/>
        </p:nvSpPr>
        <p:spPr>
          <a:xfrm>
            <a:off x="553343" y="3157240"/>
            <a:ext cx="3834877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62"/>
              </a:spcBef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 aging findings awaiting remediation — sprint kickoff planned for August</a:t>
            </a:r>
            <a:endParaRPr lang="en-US" sz="650" dirty="0"/>
          </a:p>
        </p:txBody>
      </p:sp>
      <p:sp>
        <p:nvSpPr>
          <p:cNvPr id="20" name="Shape 16"/>
          <p:cNvSpPr/>
          <p:nvPr/>
        </p:nvSpPr>
        <p:spPr>
          <a:xfrm>
            <a:off x="5559177" y="1222437"/>
            <a:ext cx="3219450" cy="1328738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47625" dist="9525" dir="5400000">
              <a:srgbClr val="1E3A5F">
                <a:alpha val="6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5747147" y="1365275"/>
            <a:ext cx="1366309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610" b="1" spc="37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SLA COMPLIANCE RATE</a:t>
            </a:r>
            <a:endParaRPr lang="en-US" sz="610" dirty="0"/>
          </a:p>
        </p:txBody>
      </p:sp>
      <p:sp>
        <p:nvSpPr>
          <p:cNvPr id="22" name="Text 18"/>
          <p:cNvSpPr/>
          <p:nvPr/>
        </p:nvSpPr>
        <p:spPr>
          <a:xfrm>
            <a:off x="5747147" y="1501750"/>
            <a:ext cx="1324518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91%</a:t>
            </a:r>
            <a:endParaRPr lang="en-US" sz="3600" dirty="0"/>
          </a:p>
        </p:txBody>
      </p:sp>
      <p:sp>
        <p:nvSpPr>
          <p:cNvPr id="23" name="Text 19"/>
          <p:cNvSpPr/>
          <p:nvPr/>
        </p:nvSpPr>
        <p:spPr>
          <a:xfrm>
            <a:off x="5747147" y="2057177"/>
            <a:ext cx="146807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324"/>
              </a:spcBef>
              <a:buNone/>
            </a:pPr>
            <a:r>
              <a:rPr lang="en-US" sz="65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Target: 95% — gap of 4 pts</a:t>
            </a:r>
            <a:endParaRPr lang="en-US" sz="650" dirty="0"/>
          </a:p>
        </p:txBody>
      </p:sp>
      <p:sp>
        <p:nvSpPr>
          <p:cNvPr id="24" name="Shape 20"/>
          <p:cNvSpPr/>
          <p:nvPr/>
        </p:nvSpPr>
        <p:spPr>
          <a:xfrm>
            <a:off x="5747296" y="2247305"/>
            <a:ext cx="2843213" cy="42863"/>
          </a:xfrm>
          <a:prstGeom prst="roundRect">
            <a:avLst>
              <a:gd name="adj" fmla="val 49999"/>
            </a:avLst>
          </a:prstGeom>
          <a:solidFill>
            <a:srgbClr val="E2E8F0"/>
          </a:solidFill>
          <a:ln/>
        </p:spPr>
      </p:sp>
      <p:sp>
        <p:nvSpPr>
          <p:cNvPr id="25" name="Shape 21"/>
          <p:cNvSpPr/>
          <p:nvPr/>
        </p:nvSpPr>
        <p:spPr>
          <a:xfrm>
            <a:off x="5747891" y="2247305"/>
            <a:ext cx="2586038" cy="42863"/>
          </a:xfrm>
          <a:prstGeom prst="roundRect">
            <a:avLst>
              <a:gd name="adj" fmla="val 49999"/>
            </a:avLst>
          </a:prstGeom>
          <a:solidFill>
            <a:srgbClr val="F59E0B"/>
          </a:solidFill>
          <a:ln/>
        </p:spPr>
      </p:sp>
      <p:sp>
        <p:nvSpPr>
          <p:cNvPr id="26" name="Text 22"/>
          <p:cNvSpPr/>
          <p:nvPr/>
        </p:nvSpPr>
        <p:spPr>
          <a:xfrm>
            <a:off x="5747147" y="2324472"/>
            <a:ext cx="200903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0%</a:t>
            </a:r>
            <a:endParaRPr lang="en-US" sz="540" dirty="0"/>
          </a:p>
        </p:txBody>
      </p:sp>
      <p:sp>
        <p:nvSpPr>
          <p:cNvPr id="27" name="Text 23"/>
          <p:cNvSpPr/>
          <p:nvPr/>
        </p:nvSpPr>
        <p:spPr>
          <a:xfrm>
            <a:off x="6940897" y="2324472"/>
            <a:ext cx="557384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95%</a:t>
            </a:r>
            <a:endParaRPr lang="en-US" sz="540" dirty="0"/>
          </a:p>
        </p:txBody>
      </p:sp>
      <p:sp>
        <p:nvSpPr>
          <p:cNvPr id="28" name="Text 24"/>
          <p:cNvSpPr/>
          <p:nvPr/>
        </p:nvSpPr>
        <p:spPr>
          <a:xfrm>
            <a:off x="8408863" y="2324472"/>
            <a:ext cx="293385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540" dirty="0"/>
          </a:p>
        </p:txBody>
      </p:sp>
      <p:sp>
        <p:nvSpPr>
          <p:cNvPr id="29" name="Shape 25"/>
          <p:cNvSpPr/>
          <p:nvPr/>
        </p:nvSpPr>
        <p:spPr>
          <a:xfrm>
            <a:off x="5559177" y="2644415"/>
            <a:ext cx="321945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47625" dist="9525" dir="5400000">
              <a:srgbClr val="1E3A5F">
                <a:alpha val="6000"/>
              </a:srgbClr>
            </a:outerShdw>
          </a:effectLst>
        </p:spPr>
      </p:sp>
      <p:sp>
        <p:nvSpPr>
          <p:cNvPr id="30" name="Text 26"/>
          <p:cNvSpPr/>
          <p:nvPr/>
        </p:nvSpPr>
        <p:spPr>
          <a:xfrm>
            <a:off x="5747147" y="2786658"/>
            <a:ext cx="1417774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86"/>
              </a:spcAft>
              <a:buNone/>
            </a:pPr>
            <a:r>
              <a:rPr lang="en-US" sz="610" b="1" spc="37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REMEDIATION VELOCITY</a:t>
            </a:r>
            <a:endParaRPr lang="en-US" sz="610" dirty="0"/>
          </a:p>
        </p:txBody>
      </p:sp>
      <p:sp>
        <p:nvSpPr>
          <p:cNvPr id="31" name="Text 27"/>
          <p:cNvSpPr/>
          <p:nvPr/>
        </p:nvSpPr>
        <p:spPr>
          <a:xfrm>
            <a:off x="5649478" y="2993454"/>
            <a:ext cx="65596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178</a:t>
            </a:r>
            <a:endParaRPr lang="en-US" sz="2160" dirty="0"/>
          </a:p>
        </p:txBody>
      </p:sp>
      <p:sp>
        <p:nvSpPr>
          <p:cNvPr id="32" name="Text 28"/>
          <p:cNvSpPr/>
          <p:nvPr/>
        </p:nvSpPr>
        <p:spPr>
          <a:xfrm>
            <a:off x="5788502" y="3376315"/>
            <a:ext cx="377837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Closed</a:t>
            </a:r>
            <a:endParaRPr lang="en-US" sz="580" dirty="0"/>
          </a:p>
        </p:txBody>
      </p:sp>
      <p:sp>
        <p:nvSpPr>
          <p:cNvPr id="33" name="Text 29"/>
          <p:cNvSpPr/>
          <p:nvPr/>
        </p:nvSpPr>
        <p:spPr>
          <a:xfrm>
            <a:off x="7020744" y="3102546"/>
            <a:ext cx="33285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</a:t>
            </a:r>
            <a:endParaRPr lang="en-US" sz="1440" dirty="0"/>
          </a:p>
        </p:txBody>
      </p:sp>
      <p:sp>
        <p:nvSpPr>
          <p:cNvPr id="34" name="Text 30"/>
          <p:cNvSpPr/>
          <p:nvPr/>
        </p:nvSpPr>
        <p:spPr>
          <a:xfrm>
            <a:off x="7935493" y="2993454"/>
            <a:ext cx="765468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203</a:t>
            </a:r>
            <a:endParaRPr lang="en-US" sz="2160" dirty="0"/>
          </a:p>
        </p:txBody>
      </p:sp>
      <p:sp>
        <p:nvSpPr>
          <p:cNvPr id="35" name="Text 31"/>
          <p:cNvSpPr/>
          <p:nvPr/>
        </p:nvSpPr>
        <p:spPr>
          <a:xfrm>
            <a:off x="8108376" y="3376315"/>
            <a:ext cx="419628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Opened</a:t>
            </a:r>
            <a:endParaRPr lang="en-US" sz="580" dirty="0"/>
          </a:p>
        </p:txBody>
      </p:sp>
      <p:sp>
        <p:nvSpPr>
          <p:cNvPr id="36" name="Text 32"/>
          <p:cNvSpPr/>
          <p:nvPr/>
        </p:nvSpPr>
        <p:spPr>
          <a:xfrm>
            <a:off x="5723219" y="3547690"/>
            <a:ext cx="2891291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Bef>
                <a:spcPts val="486"/>
              </a:spcBef>
              <a:buNone/>
            </a:pPr>
            <a:r>
              <a:rPr lang="en-US" sz="61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Net: +25 open this month — velocity improvement needed</a:t>
            </a:r>
            <a:endParaRPr lang="en-US" sz="610" dirty="0"/>
          </a:p>
        </p:txBody>
      </p:sp>
      <p:sp>
        <p:nvSpPr>
          <p:cNvPr id="37" name="Shape 33"/>
          <p:cNvSpPr/>
          <p:nvPr/>
        </p:nvSpPr>
        <p:spPr>
          <a:xfrm>
            <a:off x="366713" y="4732772"/>
            <a:ext cx="8410575" cy="204787"/>
          </a:xfrm>
          <a:prstGeom prst="rect">
            <a:avLst/>
          </a:prstGeom>
          <a:ln/>
        </p:spPr>
      </p:sp>
      <p:sp>
        <p:nvSpPr>
          <p:cNvPr id="38" name="Text 34"/>
          <p:cNvSpPr/>
          <p:nvPr/>
        </p:nvSpPr>
        <p:spPr>
          <a:xfrm>
            <a:off x="365745" y="4823892"/>
            <a:ext cx="2336884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 Security Program — Confidential</a:t>
            </a:r>
            <a:endParaRPr lang="en-US" sz="650" dirty="0"/>
          </a:p>
        </p:txBody>
      </p:sp>
      <p:sp>
        <p:nvSpPr>
          <p:cNvPr id="39" name="Text 35"/>
          <p:cNvSpPr/>
          <p:nvPr/>
        </p:nvSpPr>
        <p:spPr>
          <a:xfrm>
            <a:off x="8512373" y="4823892"/>
            <a:ext cx="40279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of 10</a:t>
            </a:r>
            <a:endParaRPr lang="en-US" sz="650" dirty="0"/>
          </a:p>
        </p:txBody>
      </p:sp>
      <p:pic>
        <p:nvPicPr>
          <p:cNvPr id="4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713" y="205271"/>
            <a:ext cx="8410575" cy="309562"/>
          </a:xfrm>
          <a:prstGeom prst="rect">
            <a:avLst/>
          </a:prstGeom>
        </p:spPr>
      </p:pic>
      <p:pic>
        <p:nvPicPr>
          <p:cNvPr id="4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713" y="4732772"/>
            <a:ext cx="8410575" cy="20478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" name="Shape 1"/>
          <p:cNvSpPr/>
          <p:nvPr/>
        </p:nvSpPr>
        <p:spPr>
          <a:xfrm>
            <a:off x="366713" y="205271"/>
            <a:ext cx="8410575" cy="309562"/>
          </a:xfrm>
          <a:prstGeom prst="rect">
            <a:avLst/>
          </a:prstGeom>
          <a:ln/>
        </p:spPr>
      </p:sp>
      <p:sp>
        <p:nvSpPr>
          <p:cNvPr id="4" name="Shape 2"/>
          <p:cNvSpPr/>
          <p:nvPr/>
        </p:nvSpPr>
        <p:spPr>
          <a:xfrm>
            <a:off x="366303" y="206239"/>
            <a:ext cx="200025" cy="200025"/>
          </a:xfrm>
          <a:prstGeom prst="roundRect">
            <a:avLst>
              <a:gd name="adj" fmla="val 18286"/>
            </a:avLst>
          </a:prstGeom>
          <a:solidFill>
            <a:srgbClr val="0D948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0989" y="250924"/>
            <a:ext cx="110579" cy="11057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35" y="238199"/>
            <a:ext cx="123290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AppSec Program</a:t>
            </a:r>
            <a:endParaRPr lang="en-US" sz="860" dirty="0"/>
          </a:p>
        </p:txBody>
      </p:sp>
      <p:sp>
        <p:nvSpPr>
          <p:cNvPr id="7" name="Text 4"/>
          <p:cNvSpPr/>
          <p:nvPr/>
        </p:nvSpPr>
        <p:spPr>
          <a:xfrm>
            <a:off x="6862167" y="247204"/>
            <a:ext cx="168070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POSTURE SCORECARD</a:t>
            </a:r>
            <a:endParaRPr lang="en-US" sz="720" dirty="0"/>
          </a:p>
        </p:txBody>
      </p:sp>
      <p:sp>
        <p:nvSpPr>
          <p:cNvPr id="8" name="Text 5"/>
          <p:cNvSpPr/>
          <p:nvPr/>
        </p:nvSpPr>
        <p:spPr>
          <a:xfrm>
            <a:off x="8293894" y="247204"/>
            <a:ext cx="68681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JULY 2026</a:t>
            </a:r>
            <a:endParaRPr lang="en-US" sz="720" dirty="0"/>
          </a:p>
        </p:txBody>
      </p:sp>
      <p:sp>
        <p:nvSpPr>
          <p:cNvPr id="9" name="Text 6"/>
          <p:cNvSpPr/>
          <p:nvPr/>
        </p:nvSpPr>
        <p:spPr>
          <a:xfrm>
            <a:off x="365745" y="652537"/>
            <a:ext cx="1302172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03"/>
              </a:spcAft>
              <a:buNone/>
            </a:pPr>
            <a:r>
              <a:rPr lang="en-US" sz="650" b="1" spc="65" kern="0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POSTURE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365745" y="773088"/>
            <a:ext cx="4151985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Posture Scorecard</a:t>
            </a:r>
            <a:endParaRPr lang="en-US" sz="216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261" y="1222474"/>
            <a:ext cx="4024312" cy="192881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94345" y="1386185"/>
            <a:ext cx="1290853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05"/>
              </a:spcAft>
              <a:buNone/>
            </a:pPr>
            <a:r>
              <a:rPr lang="en-US" sz="610" b="1" spc="49" kern="0" dirty="0">
                <a:solidFill>
                  <a:srgbClr val="FDFD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OVERALL RISK SCORE</a:t>
            </a:r>
            <a:endParaRPr lang="en-US" sz="610" dirty="0"/>
          </a:p>
        </p:txBody>
      </p:sp>
      <p:sp>
        <p:nvSpPr>
          <p:cNvPr id="13" name="Text 9"/>
          <p:cNvSpPr/>
          <p:nvPr/>
        </p:nvSpPr>
        <p:spPr>
          <a:xfrm>
            <a:off x="594345" y="1477938"/>
            <a:ext cx="1138200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04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62</a:t>
            </a:r>
            <a:endParaRPr lang="en-US" sz="5040" dirty="0"/>
          </a:p>
        </p:txBody>
      </p:sp>
      <p:sp>
        <p:nvSpPr>
          <p:cNvPr id="14" name="Text 10"/>
          <p:cNvSpPr/>
          <p:nvPr/>
        </p:nvSpPr>
        <p:spPr>
          <a:xfrm>
            <a:off x="1517303" y="1920850"/>
            <a:ext cx="550515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FDFD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/100</a:t>
            </a:r>
            <a:endParaRPr lang="en-US" sz="1440" dirty="0"/>
          </a:p>
        </p:txBody>
      </p:sp>
      <p:sp>
        <p:nvSpPr>
          <p:cNvPr id="15" name="Text 11"/>
          <p:cNvSpPr/>
          <p:nvPr/>
        </p:nvSpPr>
        <p:spPr>
          <a:xfrm>
            <a:off x="594345" y="2224683"/>
            <a:ext cx="962620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03"/>
              </a:spcBef>
              <a:buNone/>
            </a:pPr>
            <a:r>
              <a:rPr lang="en-US" sz="79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Moderate Risk</a:t>
            </a:r>
            <a:endParaRPr lang="en-US" sz="790" dirty="0"/>
          </a:p>
        </p:txBody>
      </p:sp>
      <p:sp>
        <p:nvSpPr>
          <p:cNvPr id="16" name="Text 12"/>
          <p:cNvSpPr/>
          <p:nvPr/>
        </p:nvSpPr>
        <p:spPr>
          <a:xfrm>
            <a:off x="594345" y="2391370"/>
            <a:ext cx="1319585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62"/>
              </a:spcBef>
              <a:buNone/>
            </a:pPr>
            <a:r>
              <a:rPr lang="en-US" sz="650" dirty="0">
                <a:solidFill>
                  <a:srgbClr val="FDFD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Target: ≤ 50 by Q4 2026</a:t>
            </a:r>
            <a:endParaRPr lang="en-US" sz="650" dirty="0"/>
          </a:p>
        </p:txBody>
      </p:sp>
      <p:sp>
        <p:nvSpPr>
          <p:cNvPr id="17" name="Shape 13"/>
          <p:cNvSpPr/>
          <p:nvPr/>
        </p:nvSpPr>
        <p:spPr>
          <a:xfrm>
            <a:off x="593861" y="2607357"/>
            <a:ext cx="3567113" cy="390525"/>
          </a:xfrm>
          <a:prstGeom prst="roundRect">
            <a:avLst>
              <a:gd name="adj" fmla="val 14049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731490" y="2679353"/>
            <a:ext cx="517624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03"/>
              </a:spcAft>
              <a:buNone/>
            </a:pPr>
            <a:r>
              <a:rPr lang="en-US" sz="580" dirty="0">
                <a:solidFill>
                  <a:srgbClr val="FDFD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factor</a:t>
            </a:r>
            <a:endParaRPr lang="en-US" sz="580" dirty="0"/>
          </a:p>
        </p:txBody>
      </p:sp>
      <p:sp>
        <p:nvSpPr>
          <p:cNvPr id="19" name="Text 15"/>
          <p:cNvSpPr/>
          <p:nvPr/>
        </p:nvSpPr>
        <p:spPr>
          <a:xfrm>
            <a:off x="731490" y="2814712"/>
            <a:ext cx="3226877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unpatched critical CVEs in payment-service (CVSS 9.1+)</a:t>
            </a:r>
            <a:endParaRPr lang="en-US" sz="680" dirty="0"/>
          </a:p>
        </p:txBody>
      </p:sp>
      <p:sp>
        <p:nvSpPr>
          <p:cNvPr id="20" name="Shape 16"/>
          <p:cNvSpPr/>
          <p:nvPr/>
        </p:nvSpPr>
        <p:spPr>
          <a:xfrm>
            <a:off x="365261" y="3254871"/>
            <a:ext cx="4024312" cy="1228725"/>
          </a:xfrm>
          <a:prstGeom prst="roundRect">
            <a:avLst>
              <a:gd name="adj" fmla="val 5953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47625" dist="9525" dir="5400000">
              <a:srgbClr val="1E3A5F">
                <a:alpha val="6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553343" y="3371329"/>
            <a:ext cx="93408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729"/>
              </a:spcAft>
              <a:buNone/>
            </a:pPr>
            <a:r>
              <a:rPr lang="en-US" sz="7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4-Month Trend</a:t>
            </a:r>
            <a:endParaRPr lang="en-US" sz="720" dirty="0"/>
          </a:p>
        </p:txBody>
      </p:sp>
      <p:sp>
        <p:nvSpPr>
          <p:cNvPr id="22" name="Shape 18"/>
          <p:cNvSpPr/>
          <p:nvPr/>
        </p:nvSpPr>
        <p:spPr>
          <a:xfrm>
            <a:off x="553380" y="3590553"/>
            <a:ext cx="3648075" cy="619125"/>
          </a:xfrm>
          <a:prstGeom prst="rect">
            <a:avLst/>
          </a:prstGeom>
          <a:ln/>
        </p:spPr>
      </p:sp>
      <p:sp>
        <p:nvSpPr>
          <p:cNvPr id="23" name="Text 19"/>
          <p:cNvSpPr/>
          <p:nvPr/>
        </p:nvSpPr>
        <p:spPr>
          <a:xfrm>
            <a:off x="817885" y="3379068"/>
            <a:ext cx="175171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</a:t>
            </a:r>
            <a:endParaRPr lang="en-US" sz="58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3752" y="3510037"/>
            <a:ext cx="619125" cy="51435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05755" y="4064719"/>
            <a:ext cx="206804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</a:t>
            </a:r>
            <a:endParaRPr lang="en-US" sz="540" dirty="0"/>
          </a:p>
        </p:txBody>
      </p:sp>
      <p:sp>
        <p:nvSpPr>
          <p:cNvPr id="26" name="Text 21"/>
          <p:cNvSpPr/>
          <p:nvPr/>
        </p:nvSpPr>
        <p:spPr>
          <a:xfrm>
            <a:off x="1572816" y="3404815"/>
            <a:ext cx="180878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</a:t>
            </a:r>
            <a:endParaRPr lang="en-US" sz="58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10841" y="3534817"/>
            <a:ext cx="619125" cy="490537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551384" y="4064719"/>
            <a:ext cx="236503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</a:t>
            </a:r>
            <a:endParaRPr lang="en-US" sz="540" dirty="0"/>
          </a:p>
        </p:txBody>
      </p:sp>
      <p:sp>
        <p:nvSpPr>
          <p:cNvPr id="29" name="Text 23"/>
          <p:cNvSpPr/>
          <p:nvPr/>
        </p:nvSpPr>
        <p:spPr>
          <a:xfrm>
            <a:off x="2330946" y="3430563"/>
            <a:ext cx="178073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</a:t>
            </a:r>
            <a:endParaRPr lang="en-US" sz="58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067930" y="3561978"/>
            <a:ext cx="619125" cy="46196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2317403" y="4064719"/>
            <a:ext cx="213382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</a:t>
            </a:r>
            <a:endParaRPr lang="en-US" sz="540" dirty="0"/>
          </a:p>
        </p:txBody>
      </p:sp>
      <p:sp>
        <p:nvSpPr>
          <p:cNvPr id="32" name="Text 25"/>
          <p:cNvSpPr/>
          <p:nvPr/>
        </p:nvSpPr>
        <p:spPr>
          <a:xfrm>
            <a:off x="3087737" y="3456236"/>
            <a:ext cx="178847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62</a:t>
            </a:r>
            <a:endParaRPr lang="en-US" sz="580" dirty="0"/>
          </a:p>
        </p:txBody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825018" y="3586721"/>
            <a:ext cx="619125" cy="43815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3083868" y="4064719"/>
            <a:ext cx="188908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</a:t>
            </a:r>
            <a:endParaRPr lang="en-US" sz="540" dirty="0"/>
          </a:p>
        </p:txBody>
      </p:sp>
      <p:sp>
        <p:nvSpPr>
          <p:cNvPr id="35" name="Text 27"/>
          <p:cNvSpPr/>
          <p:nvPr/>
        </p:nvSpPr>
        <p:spPr>
          <a:xfrm>
            <a:off x="3813572" y="3533403"/>
            <a:ext cx="260107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≤50</a:t>
            </a:r>
            <a:endParaRPr lang="en-US" sz="580" dirty="0"/>
          </a:p>
        </p:txBody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582107" y="3663404"/>
            <a:ext cx="619125" cy="36195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3762375" y="4064719"/>
            <a:ext cx="393219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Q4 goal</a:t>
            </a:r>
            <a:endParaRPr lang="en-US" sz="540" dirty="0"/>
          </a:p>
        </p:txBody>
      </p:sp>
      <p:sp>
        <p:nvSpPr>
          <p:cNvPr id="38" name="Text 29"/>
          <p:cNvSpPr/>
          <p:nvPr/>
        </p:nvSpPr>
        <p:spPr>
          <a:xfrm>
            <a:off x="553343" y="4269656"/>
            <a:ext cx="3611798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61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-8 points over 4 months — strongest sustained improvement in 6 months</a:t>
            </a:r>
            <a:endParaRPr lang="en-US" sz="610" dirty="0"/>
          </a:p>
        </p:txBody>
      </p:sp>
      <p:sp>
        <p:nvSpPr>
          <p:cNvPr id="39" name="Text 30"/>
          <p:cNvSpPr/>
          <p:nvPr/>
        </p:nvSpPr>
        <p:spPr>
          <a:xfrm>
            <a:off x="4754835" y="1231925"/>
            <a:ext cx="166203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03"/>
              </a:spcAft>
              <a:buNone/>
            </a:pPr>
            <a:r>
              <a:rPr lang="en-US" sz="7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Score by Business Unit</a:t>
            </a:r>
            <a:endParaRPr lang="en-US" sz="720" dirty="0"/>
          </a:p>
        </p:txBody>
      </p:sp>
      <p:sp>
        <p:nvSpPr>
          <p:cNvPr id="40" name="Shape 31"/>
          <p:cNvSpPr/>
          <p:nvPr/>
        </p:nvSpPr>
        <p:spPr>
          <a:xfrm>
            <a:off x="4754389" y="1462162"/>
            <a:ext cx="4024312" cy="628650"/>
          </a:xfrm>
          <a:prstGeom prst="roundRect">
            <a:avLst>
              <a:gd name="adj" fmla="val 11636"/>
            </a:avLst>
          </a:prstGeom>
          <a:solidFill>
            <a:srgbClr val="FFFFFF"/>
          </a:solidFill>
          <a:ln w="4763">
            <a:solidFill>
              <a:srgbClr val="FCA5A5"/>
            </a:solidFill>
            <a:prstDash val="solid"/>
          </a:ln>
          <a:effectLst>
            <a:outerShdw sx="100000" sy="100000" kx="0" ky="0" algn="bl" rotWithShape="0" blurRad="47625" dist="9525" dir="5400000">
              <a:srgbClr val="DC2626">
                <a:alpha val="8000"/>
              </a:srgbClr>
            </a:outerShdw>
          </a:effectLst>
        </p:spPr>
      </p:sp>
      <p:sp>
        <p:nvSpPr>
          <p:cNvPr id="41" name="Text 32"/>
          <p:cNvSpPr/>
          <p:nvPr/>
        </p:nvSpPr>
        <p:spPr>
          <a:xfrm>
            <a:off x="4942433" y="1651471"/>
            <a:ext cx="103875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 Service</a:t>
            </a:r>
            <a:endParaRPr lang="en-US" sz="720" dirty="0"/>
          </a:p>
        </p:txBody>
      </p:sp>
      <p:sp>
        <p:nvSpPr>
          <p:cNvPr id="42" name="Text 33"/>
          <p:cNvSpPr/>
          <p:nvPr/>
        </p:nvSpPr>
        <p:spPr>
          <a:xfrm>
            <a:off x="4942433" y="1804020"/>
            <a:ext cx="1913848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22"/>
              </a:spcBef>
              <a:buNone/>
            </a:pPr>
            <a:r>
              <a:rPr lang="en-US" sz="61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risk — immediate action required</a:t>
            </a:r>
            <a:endParaRPr lang="en-US" sz="610" dirty="0"/>
          </a:p>
        </p:txBody>
      </p:sp>
      <p:sp>
        <p:nvSpPr>
          <p:cNvPr id="43" name="Text 34"/>
          <p:cNvSpPr/>
          <p:nvPr/>
        </p:nvSpPr>
        <p:spPr>
          <a:xfrm>
            <a:off x="8139299" y="1536576"/>
            <a:ext cx="451358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216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</a:t>
            </a:r>
            <a:endParaRPr lang="en-US" sz="2160" dirty="0"/>
          </a:p>
        </p:txBody>
      </p:sp>
      <p:sp>
        <p:nvSpPr>
          <p:cNvPr id="44" name="Shape 35"/>
          <p:cNvSpPr/>
          <p:nvPr/>
        </p:nvSpPr>
        <p:spPr>
          <a:xfrm>
            <a:off x="8286638" y="1859421"/>
            <a:ext cx="304800" cy="123825"/>
          </a:xfrm>
          <a:prstGeom prst="roundRect">
            <a:avLst>
              <a:gd name="adj" fmla="val 50000"/>
            </a:avLst>
          </a:prstGeom>
          <a:solidFill>
            <a:srgbClr val="DC2626">
              <a:alpha val="10000"/>
            </a:srgbClr>
          </a:solidFill>
          <a:ln/>
        </p:spPr>
      </p:sp>
      <p:sp>
        <p:nvSpPr>
          <p:cNvPr id="45" name="Text 36"/>
          <p:cNvSpPr/>
          <p:nvPr/>
        </p:nvSpPr>
        <p:spPr>
          <a:xfrm>
            <a:off x="8276191" y="1879402"/>
            <a:ext cx="259623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spcBef>
                <a:spcPts val="122"/>
              </a:spcBef>
              <a:buNone/>
            </a:pPr>
            <a:r>
              <a:rPr lang="en-US" sz="54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540" dirty="0"/>
          </a:p>
        </p:txBody>
      </p:sp>
      <p:sp>
        <p:nvSpPr>
          <p:cNvPr id="46" name="Shape 37"/>
          <p:cNvSpPr/>
          <p:nvPr/>
        </p:nvSpPr>
        <p:spPr>
          <a:xfrm>
            <a:off x="4754389" y="2167607"/>
            <a:ext cx="4024312" cy="628650"/>
          </a:xfrm>
          <a:prstGeom prst="roundRect">
            <a:avLst>
              <a:gd name="adj" fmla="val 11636"/>
            </a:avLst>
          </a:prstGeom>
          <a:solidFill>
            <a:srgbClr val="FFFFFF"/>
          </a:solidFill>
          <a:ln w="4763">
            <a:solidFill>
              <a:srgbClr val="FDE68A"/>
            </a:solidFill>
            <a:prstDash val="solid"/>
          </a:ln>
          <a:effectLst>
            <a:outerShdw sx="100000" sy="100000" kx="0" ky="0" algn="bl" rotWithShape="0" blurRad="47625" dist="9525" dir="5400000">
              <a:srgbClr val="CA8A04">
                <a:alpha val="6000"/>
              </a:srgbClr>
            </a:outerShdw>
          </a:effectLst>
        </p:spPr>
      </p:sp>
      <p:sp>
        <p:nvSpPr>
          <p:cNvPr id="47" name="Text 38"/>
          <p:cNvSpPr/>
          <p:nvPr/>
        </p:nvSpPr>
        <p:spPr>
          <a:xfrm>
            <a:off x="4942433" y="2356917"/>
            <a:ext cx="71738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App</a:t>
            </a:r>
            <a:endParaRPr lang="en-US" sz="720" dirty="0"/>
          </a:p>
        </p:txBody>
      </p:sp>
      <p:sp>
        <p:nvSpPr>
          <p:cNvPr id="48" name="Text 39"/>
          <p:cNvSpPr/>
          <p:nvPr/>
        </p:nvSpPr>
        <p:spPr>
          <a:xfrm>
            <a:off x="4942433" y="2509465"/>
            <a:ext cx="1428996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22"/>
              </a:spcBef>
              <a:buNone/>
            </a:pPr>
            <a:r>
              <a:rPr lang="en-US" sz="61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Moderate — monitor closely</a:t>
            </a:r>
            <a:endParaRPr lang="en-US" sz="610" dirty="0"/>
          </a:p>
        </p:txBody>
      </p:sp>
      <p:sp>
        <p:nvSpPr>
          <p:cNvPr id="49" name="Text 40"/>
          <p:cNvSpPr/>
          <p:nvPr/>
        </p:nvSpPr>
        <p:spPr>
          <a:xfrm>
            <a:off x="8140169" y="2242021"/>
            <a:ext cx="450488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216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61</a:t>
            </a:r>
            <a:endParaRPr lang="en-US" sz="2160" dirty="0"/>
          </a:p>
        </p:txBody>
      </p:sp>
      <p:sp>
        <p:nvSpPr>
          <p:cNvPr id="50" name="Shape 41"/>
          <p:cNvSpPr/>
          <p:nvPr/>
        </p:nvSpPr>
        <p:spPr>
          <a:xfrm>
            <a:off x="8158125" y="2564867"/>
            <a:ext cx="433388" cy="123825"/>
          </a:xfrm>
          <a:prstGeom prst="roundRect">
            <a:avLst>
              <a:gd name="adj" fmla="val 50000"/>
            </a:avLst>
          </a:prstGeom>
          <a:solidFill>
            <a:srgbClr val="B45309">
              <a:alpha val="10000"/>
            </a:srgbClr>
          </a:solidFill>
          <a:ln/>
        </p:spPr>
      </p:sp>
      <p:sp>
        <p:nvSpPr>
          <p:cNvPr id="51" name="Text 42"/>
          <p:cNvSpPr/>
          <p:nvPr/>
        </p:nvSpPr>
        <p:spPr>
          <a:xfrm>
            <a:off x="8060077" y="2584847"/>
            <a:ext cx="475737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spcBef>
                <a:spcPts val="122"/>
              </a:spcBef>
              <a:buNone/>
            </a:pPr>
            <a:r>
              <a:rPr lang="en-US" sz="54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Moderate</a:t>
            </a:r>
            <a:endParaRPr lang="en-US" sz="540" dirty="0"/>
          </a:p>
        </p:txBody>
      </p:sp>
      <p:sp>
        <p:nvSpPr>
          <p:cNvPr id="52" name="Shape 43"/>
          <p:cNvSpPr/>
          <p:nvPr/>
        </p:nvSpPr>
        <p:spPr>
          <a:xfrm>
            <a:off x="4754389" y="2873053"/>
            <a:ext cx="4024312" cy="628650"/>
          </a:xfrm>
          <a:prstGeom prst="roundRect">
            <a:avLst>
              <a:gd name="adj" fmla="val 11636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47625" dist="9525" dir="5400000">
              <a:srgbClr val="1E3A5F">
                <a:alpha val="5000"/>
              </a:srgbClr>
            </a:outerShdw>
          </a:effectLst>
        </p:spPr>
      </p:sp>
      <p:sp>
        <p:nvSpPr>
          <p:cNvPr id="53" name="Text 44"/>
          <p:cNvSpPr/>
          <p:nvPr/>
        </p:nvSpPr>
        <p:spPr>
          <a:xfrm>
            <a:off x="4942433" y="3062362"/>
            <a:ext cx="85533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Platform</a:t>
            </a:r>
            <a:endParaRPr lang="en-US" sz="720" dirty="0"/>
          </a:p>
        </p:txBody>
      </p:sp>
      <p:sp>
        <p:nvSpPr>
          <p:cNvPr id="54" name="Text 45"/>
          <p:cNvSpPr/>
          <p:nvPr/>
        </p:nvSpPr>
        <p:spPr>
          <a:xfrm>
            <a:off x="4942433" y="3214911"/>
            <a:ext cx="997446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22"/>
              </a:spcBef>
              <a:buNone/>
            </a:pPr>
            <a:r>
              <a:rPr lang="en-US" sz="61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— steady state</a:t>
            </a:r>
            <a:endParaRPr lang="en-US" sz="610" dirty="0"/>
          </a:p>
        </p:txBody>
      </p:sp>
      <p:sp>
        <p:nvSpPr>
          <p:cNvPr id="55" name="Text 46"/>
          <p:cNvSpPr/>
          <p:nvPr/>
        </p:nvSpPr>
        <p:spPr>
          <a:xfrm>
            <a:off x="8081449" y="2947467"/>
            <a:ext cx="509208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216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</a:t>
            </a:r>
            <a:endParaRPr lang="en-US" sz="2160" dirty="0"/>
          </a:p>
        </p:txBody>
      </p:sp>
      <p:sp>
        <p:nvSpPr>
          <p:cNvPr id="56" name="Shape 47"/>
          <p:cNvSpPr/>
          <p:nvPr/>
        </p:nvSpPr>
        <p:spPr>
          <a:xfrm>
            <a:off x="8242957" y="3270312"/>
            <a:ext cx="347663" cy="123825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57" name="Text 48"/>
          <p:cNvSpPr/>
          <p:nvPr/>
        </p:nvSpPr>
        <p:spPr>
          <a:xfrm>
            <a:off x="8299021" y="3290292"/>
            <a:ext cx="236793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spcBef>
                <a:spcPts val="122"/>
              </a:spcBef>
              <a:buNone/>
            </a:pPr>
            <a:r>
              <a:rPr lang="en-US" sz="54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</a:t>
            </a:r>
            <a:endParaRPr lang="en-US" sz="540" dirty="0"/>
          </a:p>
        </p:txBody>
      </p:sp>
      <p:sp>
        <p:nvSpPr>
          <p:cNvPr id="58" name="Shape 49"/>
          <p:cNvSpPr/>
          <p:nvPr/>
        </p:nvSpPr>
        <p:spPr>
          <a:xfrm>
            <a:off x="4754389" y="3578498"/>
            <a:ext cx="4024312" cy="628650"/>
          </a:xfrm>
          <a:prstGeom prst="roundRect">
            <a:avLst>
              <a:gd name="adj" fmla="val 11636"/>
            </a:avLst>
          </a:prstGeom>
          <a:solidFill>
            <a:srgbClr val="FFFFFF"/>
          </a:solidFill>
          <a:ln w="4763">
            <a:solidFill>
              <a:srgbClr val="CCFBF1"/>
            </a:solidFill>
            <a:prstDash val="solid"/>
          </a:ln>
          <a:effectLst>
            <a:outerShdw sx="100000" sy="100000" kx="0" ky="0" algn="bl" rotWithShape="0" blurRad="47625" dist="9525" dir="5400000">
              <a:srgbClr val="0D9488">
                <a:alpha val="6000"/>
              </a:srgbClr>
            </a:outerShdw>
          </a:effectLst>
        </p:spPr>
      </p:sp>
      <p:sp>
        <p:nvSpPr>
          <p:cNvPr id="59" name="Text 50"/>
          <p:cNvSpPr/>
          <p:nvPr/>
        </p:nvSpPr>
        <p:spPr>
          <a:xfrm>
            <a:off x="4942433" y="3767807"/>
            <a:ext cx="84450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Tools</a:t>
            </a:r>
            <a:endParaRPr lang="en-US" sz="720" dirty="0"/>
          </a:p>
        </p:txBody>
      </p:sp>
      <p:sp>
        <p:nvSpPr>
          <p:cNvPr id="60" name="Text 51"/>
          <p:cNvSpPr/>
          <p:nvPr/>
        </p:nvSpPr>
        <p:spPr>
          <a:xfrm>
            <a:off x="4942433" y="3920356"/>
            <a:ext cx="1126979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22"/>
              </a:spcBef>
              <a:buNone/>
            </a:pPr>
            <a:r>
              <a:rPr lang="en-US" sz="61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— strong posture</a:t>
            </a:r>
            <a:endParaRPr lang="en-US" sz="610" dirty="0"/>
          </a:p>
        </p:txBody>
      </p:sp>
      <p:sp>
        <p:nvSpPr>
          <p:cNvPr id="61" name="Text 52"/>
          <p:cNvSpPr/>
          <p:nvPr/>
        </p:nvSpPr>
        <p:spPr>
          <a:xfrm>
            <a:off x="8042464" y="3652912"/>
            <a:ext cx="548194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216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</a:t>
            </a:r>
            <a:endParaRPr lang="en-US" sz="2160" dirty="0"/>
          </a:p>
        </p:txBody>
      </p:sp>
      <p:sp>
        <p:nvSpPr>
          <p:cNvPr id="62" name="Shape 53"/>
          <p:cNvSpPr/>
          <p:nvPr/>
        </p:nvSpPr>
        <p:spPr>
          <a:xfrm>
            <a:off x="8213675" y="3975757"/>
            <a:ext cx="376238" cy="123825"/>
          </a:xfrm>
          <a:prstGeom prst="roundRect">
            <a:avLst>
              <a:gd name="adj" fmla="val 50000"/>
            </a:avLst>
          </a:prstGeom>
          <a:solidFill>
            <a:srgbClr val="0D9488">
              <a:alpha val="10000"/>
            </a:srgbClr>
          </a:solidFill>
          <a:ln/>
        </p:spPr>
      </p:sp>
      <p:sp>
        <p:nvSpPr>
          <p:cNvPr id="63" name="Text 54"/>
          <p:cNvSpPr/>
          <p:nvPr/>
        </p:nvSpPr>
        <p:spPr>
          <a:xfrm>
            <a:off x="8299021" y="3995737"/>
            <a:ext cx="236793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spcBef>
                <a:spcPts val="122"/>
              </a:spcBef>
              <a:buNone/>
            </a:pPr>
            <a:r>
              <a:rPr lang="en-US" sz="54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</a:t>
            </a:r>
            <a:endParaRPr lang="en-US" sz="540" dirty="0"/>
          </a:p>
        </p:txBody>
      </p:sp>
      <p:sp>
        <p:nvSpPr>
          <p:cNvPr id="64" name="Shape 55"/>
          <p:cNvSpPr/>
          <p:nvPr/>
        </p:nvSpPr>
        <p:spPr>
          <a:xfrm>
            <a:off x="366713" y="4732772"/>
            <a:ext cx="8410575" cy="204787"/>
          </a:xfrm>
          <a:prstGeom prst="rect">
            <a:avLst/>
          </a:prstGeom>
          <a:ln/>
        </p:spPr>
      </p:sp>
      <p:sp>
        <p:nvSpPr>
          <p:cNvPr id="65" name="Text 56"/>
          <p:cNvSpPr/>
          <p:nvPr/>
        </p:nvSpPr>
        <p:spPr>
          <a:xfrm>
            <a:off x="365745" y="4823892"/>
            <a:ext cx="2336884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 Security Program — Confidential</a:t>
            </a:r>
            <a:endParaRPr lang="en-US" sz="650" dirty="0"/>
          </a:p>
        </p:txBody>
      </p:sp>
      <p:sp>
        <p:nvSpPr>
          <p:cNvPr id="66" name="Text 57"/>
          <p:cNvSpPr/>
          <p:nvPr/>
        </p:nvSpPr>
        <p:spPr>
          <a:xfrm>
            <a:off x="8516689" y="4823892"/>
            <a:ext cx="397185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of 10</a:t>
            </a:r>
            <a:endParaRPr lang="en-US" sz="650" dirty="0"/>
          </a:p>
        </p:txBody>
      </p:sp>
      <p:pic>
        <p:nvPicPr>
          <p:cNvPr id="67" name="Image 7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66713" y="205271"/>
            <a:ext cx="8410575" cy="309562"/>
          </a:xfrm>
          <a:prstGeom prst="rect">
            <a:avLst/>
          </a:prstGeom>
        </p:spPr>
      </p:pic>
      <p:pic>
        <p:nvPicPr>
          <p:cNvPr id="68" name="Image 8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53380" y="3590553"/>
            <a:ext cx="3648075" cy="619125"/>
          </a:xfrm>
          <a:prstGeom prst="rect">
            <a:avLst/>
          </a:prstGeom>
        </p:spPr>
      </p:pic>
      <p:pic>
        <p:nvPicPr>
          <p:cNvPr id="69" name="Image 9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66713" y="4732772"/>
            <a:ext cx="8410575" cy="20478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" name="Shape 1"/>
          <p:cNvSpPr/>
          <p:nvPr/>
        </p:nvSpPr>
        <p:spPr>
          <a:xfrm>
            <a:off x="366713" y="205271"/>
            <a:ext cx="8410575" cy="309562"/>
          </a:xfrm>
          <a:prstGeom prst="rect">
            <a:avLst/>
          </a:prstGeom>
          <a:ln/>
        </p:spPr>
      </p:sp>
      <p:sp>
        <p:nvSpPr>
          <p:cNvPr id="4" name="Shape 2"/>
          <p:cNvSpPr/>
          <p:nvPr/>
        </p:nvSpPr>
        <p:spPr>
          <a:xfrm>
            <a:off x="366303" y="206239"/>
            <a:ext cx="200025" cy="200025"/>
          </a:xfrm>
          <a:prstGeom prst="roundRect">
            <a:avLst>
              <a:gd name="adj" fmla="val 18286"/>
            </a:avLst>
          </a:prstGeom>
          <a:solidFill>
            <a:srgbClr val="0D948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0989" y="250924"/>
            <a:ext cx="110579" cy="11057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35" y="238199"/>
            <a:ext cx="123290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AppSec Program</a:t>
            </a:r>
            <a:endParaRPr lang="en-US" sz="860" dirty="0"/>
          </a:p>
        </p:txBody>
      </p:sp>
      <p:sp>
        <p:nvSpPr>
          <p:cNvPr id="7" name="Text 4"/>
          <p:cNvSpPr/>
          <p:nvPr/>
        </p:nvSpPr>
        <p:spPr>
          <a:xfrm>
            <a:off x="7194724" y="247204"/>
            <a:ext cx="124838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SCANNING RESULTS</a:t>
            </a:r>
            <a:endParaRPr lang="en-US" sz="720" dirty="0"/>
          </a:p>
        </p:txBody>
      </p:sp>
      <p:sp>
        <p:nvSpPr>
          <p:cNvPr id="8" name="Text 5"/>
          <p:cNvSpPr/>
          <p:nvPr/>
        </p:nvSpPr>
        <p:spPr>
          <a:xfrm>
            <a:off x="8293894" y="247204"/>
            <a:ext cx="68681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JULY 2026</a:t>
            </a:r>
            <a:endParaRPr lang="en-US" sz="720" dirty="0"/>
          </a:p>
        </p:txBody>
      </p:sp>
      <p:sp>
        <p:nvSpPr>
          <p:cNvPr id="9" name="Text 6"/>
          <p:cNvSpPr/>
          <p:nvPr/>
        </p:nvSpPr>
        <p:spPr>
          <a:xfrm>
            <a:off x="365745" y="652537"/>
            <a:ext cx="137134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03"/>
              </a:spcAft>
              <a:buNone/>
            </a:pPr>
            <a:r>
              <a:rPr lang="en-US" sz="650" b="1" spc="65" kern="0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 PERFORMANCE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365745" y="773088"/>
            <a:ext cx="4768111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SAST / DAST / SCA Results</a:t>
            </a:r>
            <a:endParaRPr lang="en-US" sz="2160" dirty="0"/>
          </a:p>
        </p:txBody>
      </p:sp>
      <p:sp>
        <p:nvSpPr>
          <p:cNvPr id="11" name="Shape 8"/>
          <p:cNvSpPr/>
          <p:nvPr/>
        </p:nvSpPr>
        <p:spPr>
          <a:xfrm>
            <a:off x="366229" y="1222474"/>
            <a:ext cx="2681288" cy="3381375"/>
          </a:xfrm>
          <a:prstGeom prst="roundRect">
            <a:avLst>
              <a:gd name="adj" fmla="val 2728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47625" dist="9525" dir="5400000">
              <a:srgbClr val="1E3A5F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70991" y="1228167"/>
            <a:ext cx="2671763" cy="6477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Text 10"/>
          <p:cNvSpPr/>
          <p:nvPr/>
        </p:nvSpPr>
        <p:spPr>
          <a:xfrm>
            <a:off x="535037" y="1329258"/>
            <a:ext cx="953914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" b="1" spc="43" kern="0" dirty="0">
                <a:solidFill>
                  <a:srgbClr val="A5B0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STATIC ANALYSIS</a:t>
            </a:r>
            <a:endParaRPr lang="en-US" sz="540" dirty="0"/>
          </a:p>
        </p:txBody>
      </p:sp>
      <p:sp>
        <p:nvSpPr>
          <p:cNvPr id="14" name="Text 11"/>
          <p:cNvSpPr/>
          <p:nvPr/>
        </p:nvSpPr>
        <p:spPr>
          <a:xfrm>
            <a:off x="535037" y="1457102"/>
            <a:ext cx="573539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22"/>
              </a:spcBef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SAST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35037" y="1677293"/>
            <a:ext cx="1149422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"/>
              </a:spcBef>
              <a:buNone/>
            </a:pPr>
            <a:r>
              <a:rPr lang="en-US" sz="610" dirty="0">
                <a:solidFill>
                  <a:srgbClr val="8F9D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Semgrep + SonarQube</a:t>
            </a:r>
            <a:endParaRPr lang="en-US" sz="610" dirty="0"/>
          </a:p>
        </p:txBody>
      </p:sp>
      <p:sp>
        <p:nvSpPr>
          <p:cNvPr id="16" name="Shape 13"/>
          <p:cNvSpPr/>
          <p:nvPr/>
        </p:nvSpPr>
        <p:spPr>
          <a:xfrm>
            <a:off x="534033" y="1980009"/>
            <a:ext cx="1143000" cy="500063"/>
          </a:xfrm>
          <a:prstGeom prst="roundRect">
            <a:avLst>
              <a:gd name="adj" fmla="val 9143"/>
            </a:avLst>
          </a:prstGeom>
          <a:solidFill>
            <a:srgbClr val="F8FAFC"/>
          </a:solidFill>
          <a:ln/>
        </p:spPr>
      </p:sp>
      <p:sp>
        <p:nvSpPr>
          <p:cNvPr id="17" name="Text 14"/>
          <p:cNvSpPr/>
          <p:nvPr/>
        </p:nvSpPr>
        <p:spPr>
          <a:xfrm>
            <a:off x="846296" y="2065213"/>
            <a:ext cx="51839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487</a:t>
            </a:r>
            <a:endParaRPr lang="en-US" sz="1440" dirty="0"/>
          </a:p>
        </p:txBody>
      </p:sp>
      <p:sp>
        <p:nvSpPr>
          <p:cNvPr id="18" name="Text 15"/>
          <p:cNvSpPr/>
          <p:nvPr/>
        </p:nvSpPr>
        <p:spPr>
          <a:xfrm>
            <a:off x="961307" y="2325291"/>
            <a:ext cx="288451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</a:t>
            </a:r>
            <a:endParaRPr lang="en-US" sz="540" dirty="0"/>
          </a:p>
        </p:txBody>
      </p:sp>
      <p:sp>
        <p:nvSpPr>
          <p:cNvPr id="19" name="Shape 16"/>
          <p:cNvSpPr/>
          <p:nvPr/>
        </p:nvSpPr>
        <p:spPr>
          <a:xfrm>
            <a:off x="1736713" y="1980009"/>
            <a:ext cx="1143000" cy="500063"/>
          </a:xfrm>
          <a:prstGeom prst="roundRect">
            <a:avLst>
              <a:gd name="adj" fmla="val 9143"/>
            </a:avLst>
          </a:prstGeom>
          <a:solidFill>
            <a:srgbClr val="F0FDF4"/>
          </a:solidFill>
          <a:ln/>
        </p:spPr>
      </p:sp>
      <p:sp>
        <p:nvSpPr>
          <p:cNvPr id="20" name="Text 17"/>
          <p:cNvSpPr/>
          <p:nvPr/>
        </p:nvSpPr>
        <p:spPr>
          <a:xfrm>
            <a:off x="2122014" y="2065213"/>
            <a:ext cx="37232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</a:t>
            </a:r>
            <a:endParaRPr lang="en-US" sz="1440" dirty="0"/>
          </a:p>
        </p:txBody>
      </p:sp>
      <p:sp>
        <p:nvSpPr>
          <p:cNvPr id="21" name="Text 18"/>
          <p:cNvSpPr/>
          <p:nvPr/>
        </p:nvSpPr>
        <p:spPr>
          <a:xfrm>
            <a:off x="2129366" y="2325291"/>
            <a:ext cx="357619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Closed</a:t>
            </a:r>
            <a:endParaRPr lang="en-US" sz="540" dirty="0"/>
          </a:p>
        </p:txBody>
      </p:sp>
      <p:sp>
        <p:nvSpPr>
          <p:cNvPr id="22" name="Shape 19"/>
          <p:cNvSpPr/>
          <p:nvPr/>
        </p:nvSpPr>
        <p:spPr>
          <a:xfrm>
            <a:off x="535298" y="2557797"/>
            <a:ext cx="2343150" cy="381000"/>
          </a:xfrm>
          <a:prstGeom prst="rect">
            <a:avLst/>
          </a:prstGeom>
          <a:ln/>
        </p:spPr>
      </p:sp>
      <p:sp>
        <p:nvSpPr>
          <p:cNvPr id="23" name="Text 20"/>
          <p:cNvSpPr/>
          <p:nvPr/>
        </p:nvSpPr>
        <p:spPr>
          <a:xfrm>
            <a:off x="535037" y="2633439"/>
            <a:ext cx="405118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</a:t>
            </a:r>
            <a:endParaRPr lang="en-US" sz="610" dirty="0"/>
          </a:p>
        </p:txBody>
      </p:sp>
      <p:sp>
        <p:nvSpPr>
          <p:cNvPr id="24" name="Text 21"/>
          <p:cNvSpPr/>
          <p:nvPr/>
        </p:nvSpPr>
        <p:spPr>
          <a:xfrm>
            <a:off x="2826097" y="2633439"/>
            <a:ext cx="125544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610" dirty="0"/>
          </a:p>
        </p:txBody>
      </p:sp>
      <p:sp>
        <p:nvSpPr>
          <p:cNvPr id="25" name="Text 22"/>
          <p:cNvSpPr/>
          <p:nvPr/>
        </p:nvSpPr>
        <p:spPr>
          <a:xfrm>
            <a:off x="535037" y="2791048"/>
            <a:ext cx="283905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b="1" dirty="0">
                <a:solidFill>
                  <a:srgbClr val="EA58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610" dirty="0"/>
          </a:p>
        </p:txBody>
      </p:sp>
      <p:sp>
        <p:nvSpPr>
          <p:cNvPr id="26" name="Text 23"/>
          <p:cNvSpPr/>
          <p:nvPr/>
        </p:nvSpPr>
        <p:spPr>
          <a:xfrm>
            <a:off x="2794992" y="2791048"/>
            <a:ext cx="165981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b="1" dirty="0">
                <a:solidFill>
                  <a:srgbClr val="EA58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610" dirty="0"/>
          </a:p>
        </p:txBody>
      </p:sp>
      <p:sp>
        <p:nvSpPr>
          <p:cNvPr id="27" name="Shape 24"/>
          <p:cNvSpPr/>
          <p:nvPr/>
        </p:nvSpPr>
        <p:spPr>
          <a:xfrm>
            <a:off x="535298" y="3015704"/>
            <a:ext cx="2343150" cy="481012"/>
          </a:xfrm>
          <a:prstGeom prst="roundRect">
            <a:avLst>
              <a:gd name="adj" fmla="val 9505"/>
            </a:avLst>
          </a:prstGeom>
          <a:solidFill>
            <a:srgbClr val="FFF7ED"/>
          </a:solidFill>
          <a:ln/>
        </p:spPr>
      </p:sp>
      <p:sp>
        <p:nvSpPr>
          <p:cNvPr id="28" name="Text 25"/>
          <p:cNvSpPr/>
          <p:nvPr/>
        </p:nvSpPr>
        <p:spPr>
          <a:xfrm>
            <a:off x="626418" y="3087439"/>
            <a:ext cx="630615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"/>
              </a:spcAft>
              <a:buNone/>
            </a:pPr>
            <a:r>
              <a:rPr lang="en-US" sz="54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FINDING</a:t>
            </a:r>
            <a:endParaRPr lang="en-US" sz="540" dirty="0"/>
          </a:p>
        </p:txBody>
      </p:sp>
      <p:sp>
        <p:nvSpPr>
          <p:cNvPr id="29" name="Text 26"/>
          <p:cNvSpPr/>
          <p:nvPr/>
        </p:nvSpPr>
        <p:spPr>
          <a:xfrm>
            <a:off x="626418" y="3210892"/>
            <a:ext cx="129037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Insecure deserialization</a:t>
            </a:r>
            <a:endParaRPr lang="en-US" sz="650" dirty="0"/>
          </a:p>
        </p:txBody>
      </p:sp>
      <p:sp>
        <p:nvSpPr>
          <p:cNvPr id="30" name="Text 27"/>
          <p:cNvSpPr/>
          <p:nvPr/>
        </p:nvSpPr>
        <p:spPr>
          <a:xfrm>
            <a:off x="626418" y="3334345"/>
            <a:ext cx="614556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instances</a:t>
            </a:r>
            <a:endParaRPr lang="en-US" sz="580" dirty="0"/>
          </a:p>
        </p:txBody>
      </p:sp>
      <p:sp>
        <p:nvSpPr>
          <p:cNvPr id="31" name="Shape 28"/>
          <p:cNvSpPr/>
          <p:nvPr/>
        </p:nvSpPr>
        <p:spPr>
          <a:xfrm>
            <a:off x="3231319" y="1222474"/>
            <a:ext cx="2681288" cy="3381375"/>
          </a:xfrm>
          <a:prstGeom prst="roundRect">
            <a:avLst>
              <a:gd name="adj" fmla="val 2728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47625" dist="9525" dir="5400000">
              <a:srgbClr val="1E3A5F">
                <a:alpha val="6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3236082" y="1228167"/>
            <a:ext cx="2671763" cy="647700"/>
          </a:xfrm>
          <a:prstGeom prst="rect">
            <a:avLst/>
          </a:prstGeom>
          <a:solidFill>
            <a:srgbClr val="0D4A6E"/>
          </a:solidFill>
          <a:ln/>
        </p:spPr>
      </p:sp>
      <p:sp>
        <p:nvSpPr>
          <p:cNvPr id="33" name="Text 30"/>
          <p:cNvSpPr/>
          <p:nvPr/>
        </p:nvSpPr>
        <p:spPr>
          <a:xfrm>
            <a:off x="3400127" y="1329258"/>
            <a:ext cx="1076868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" b="1" spc="43" kern="0" dirty="0">
                <a:solidFill>
                  <a:srgbClr val="9EB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DYNAMIC ANALYSIS</a:t>
            </a:r>
            <a:endParaRPr lang="en-US" sz="540" dirty="0"/>
          </a:p>
        </p:txBody>
      </p:sp>
      <p:sp>
        <p:nvSpPr>
          <p:cNvPr id="34" name="Text 31"/>
          <p:cNvSpPr/>
          <p:nvPr/>
        </p:nvSpPr>
        <p:spPr>
          <a:xfrm>
            <a:off x="3400127" y="1457102"/>
            <a:ext cx="580891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22"/>
              </a:spcBef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DAST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3400127" y="1677293"/>
            <a:ext cx="1101150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"/>
              </a:spcBef>
              <a:buNone/>
            </a:pPr>
            <a:r>
              <a:rPr lang="en-US" sz="610" dirty="0">
                <a:solidFill>
                  <a:srgbClr val="86A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Burp Suite Automated</a:t>
            </a:r>
            <a:endParaRPr lang="en-US" sz="610" dirty="0"/>
          </a:p>
        </p:txBody>
      </p:sp>
      <p:sp>
        <p:nvSpPr>
          <p:cNvPr id="36" name="Shape 33"/>
          <p:cNvSpPr/>
          <p:nvPr/>
        </p:nvSpPr>
        <p:spPr>
          <a:xfrm>
            <a:off x="3399123" y="1980009"/>
            <a:ext cx="1143000" cy="500063"/>
          </a:xfrm>
          <a:prstGeom prst="roundRect">
            <a:avLst>
              <a:gd name="adj" fmla="val 9143"/>
            </a:avLst>
          </a:prstGeom>
          <a:solidFill>
            <a:srgbClr val="F8FAFC"/>
          </a:solidFill>
          <a:ln/>
        </p:spPr>
      </p:sp>
      <p:sp>
        <p:nvSpPr>
          <p:cNvPr id="37" name="Text 34"/>
          <p:cNvSpPr/>
          <p:nvPr/>
        </p:nvSpPr>
        <p:spPr>
          <a:xfrm>
            <a:off x="3703540" y="2065213"/>
            <a:ext cx="534166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346</a:t>
            </a:r>
            <a:endParaRPr lang="en-US" sz="1440" dirty="0"/>
          </a:p>
        </p:txBody>
      </p:sp>
      <p:sp>
        <p:nvSpPr>
          <p:cNvPr id="38" name="Text 35"/>
          <p:cNvSpPr/>
          <p:nvPr/>
        </p:nvSpPr>
        <p:spPr>
          <a:xfrm>
            <a:off x="3826397" y="2325291"/>
            <a:ext cx="288451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</a:t>
            </a:r>
            <a:endParaRPr lang="en-US" sz="540" dirty="0"/>
          </a:p>
        </p:txBody>
      </p:sp>
      <p:sp>
        <p:nvSpPr>
          <p:cNvPr id="39" name="Shape 36"/>
          <p:cNvSpPr/>
          <p:nvPr/>
        </p:nvSpPr>
        <p:spPr>
          <a:xfrm>
            <a:off x="4601803" y="1980009"/>
            <a:ext cx="1143000" cy="500063"/>
          </a:xfrm>
          <a:prstGeom prst="roundRect">
            <a:avLst>
              <a:gd name="adj" fmla="val 9143"/>
            </a:avLst>
          </a:prstGeom>
          <a:solidFill>
            <a:srgbClr val="F0FDF4"/>
          </a:solidFill>
          <a:ln/>
        </p:spPr>
      </p:sp>
      <p:sp>
        <p:nvSpPr>
          <p:cNvPr id="40" name="Text 37"/>
          <p:cNvSpPr/>
          <p:nvPr/>
        </p:nvSpPr>
        <p:spPr>
          <a:xfrm>
            <a:off x="4994058" y="2065213"/>
            <a:ext cx="35849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</a:t>
            </a:r>
            <a:endParaRPr lang="en-US" sz="1440" dirty="0"/>
          </a:p>
        </p:txBody>
      </p:sp>
      <p:sp>
        <p:nvSpPr>
          <p:cNvPr id="41" name="Text 38"/>
          <p:cNvSpPr/>
          <p:nvPr/>
        </p:nvSpPr>
        <p:spPr>
          <a:xfrm>
            <a:off x="4994456" y="2325291"/>
            <a:ext cx="357619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Closed</a:t>
            </a:r>
            <a:endParaRPr lang="en-US" sz="540" dirty="0"/>
          </a:p>
        </p:txBody>
      </p:sp>
      <p:sp>
        <p:nvSpPr>
          <p:cNvPr id="42" name="Shape 39"/>
          <p:cNvSpPr/>
          <p:nvPr/>
        </p:nvSpPr>
        <p:spPr>
          <a:xfrm>
            <a:off x="3400388" y="2557797"/>
            <a:ext cx="2343150" cy="381000"/>
          </a:xfrm>
          <a:prstGeom prst="rect">
            <a:avLst/>
          </a:prstGeom>
          <a:ln/>
        </p:spPr>
      </p:sp>
      <p:sp>
        <p:nvSpPr>
          <p:cNvPr id="43" name="Text 40"/>
          <p:cNvSpPr/>
          <p:nvPr/>
        </p:nvSpPr>
        <p:spPr>
          <a:xfrm>
            <a:off x="3400127" y="2633439"/>
            <a:ext cx="528459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Coverage</a:t>
            </a:r>
            <a:endParaRPr lang="en-US" sz="610" dirty="0"/>
          </a:p>
        </p:txBody>
      </p:sp>
      <p:sp>
        <p:nvSpPr>
          <p:cNvPr id="44" name="Text 41"/>
          <p:cNvSpPr/>
          <p:nvPr/>
        </p:nvSpPr>
        <p:spPr>
          <a:xfrm>
            <a:off x="5370612" y="2633439"/>
            <a:ext cx="542292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APIs</a:t>
            </a:r>
            <a:endParaRPr lang="en-US" sz="610" dirty="0"/>
          </a:p>
        </p:txBody>
      </p:sp>
      <p:sp>
        <p:nvSpPr>
          <p:cNvPr id="45" name="Text 42"/>
          <p:cNvSpPr/>
          <p:nvPr/>
        </p:nvSpPr>
        <p:spPr>
          <a:xfrm>
            <a:off x="3400127" y="2791048"/>
            <a:ext cx="827574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Scan frequency</a:t>
            </a:r>
            <a:endParaRPr lang="en-US" sz="610" dirty="0"/>
          </a:p>
        </p:txBody>
      </p:sp>
      <p:sp>
        <p:nvSpPr>
          <p:cNvPr id="46" name="Text 43"/>
          <p:cNvSpPr/>
          <p:nvPr/>
        </p:nvSpPr>
        <p:spPr>
          <a:xfrm>
            <a:off x="5460802" y="2791048"/>
            <a:ext cx="425046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</a:t>
            </a:r>
            <a:endParaRPr lang="en-US" sz="610" dirty="0"/>
          </a:p>
        </p:txBody>
      </p:sp>
      <p:sp>
        <p:nvSpPr>
          <p:cNvPr id="47" name="Shape 44"/>
          <p:cNvSpPr/>
          <p:nvPr/>
        </p:nvSpPr>
        <p:spPr>
          <a:xfrm>
            <a:off x="3400388" y="3015704"/>
            <a:ext cx="2343150" cy="481012"/>
          </a:xfrm>
          <a:prstGeom prst="roundRect">
            <a:avLst>
              <a:gd name="adj" fmla="val 9505"/>
            </a:avLst>
          </a:prstGeom>
          <a:solidFill>
            <a:srgbClr val="EFF6FF"/>
          </a:solidFill>
          <a:ln/>
        </p:spPr>
      </p:sp>
      <p:sp>
        <p:nvSpPr>
          <p:cNvPr id="48" name="Text 45"/>
          <p:cNvSpPr/>
          <p:nvPr/>
        </p:nvSpPr>
        <p:spPr>
          <a:xfrm>
            <a:off x="3491508" y="3087439"/>
            <a:ext cx="630615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"/>
              </a:spcAft>
              <a:buNone/>
            </a:pPr>
            <a:r>
              <a:rPr lang="en-US" sz="54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FINDING</a:t>
            </a:r>
            <a:endParaRPr lang="en-US" sz="540" dirty="0"/>
          </a:p>
        </p:txBody>
      </p:sp>
      <p:sp>
        <p:nvSpPr>
          <p:cNvPr id="49" name="Text 46"/>
          <p:cNvSpPr/>
          <p:nvPr/>
        </p:nvSpPr>
        <p:spPr>
          <a:xfrm>
            <a:off x="3491508" y="3210892"/>
            <a:ext cx="1361085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security headers</a:t>
            </a:r>
            <a:endParaRPr lang="en-US" sz="650" dirty="0"/>
          </a:p>
        </p:txBody>
      </p:sp>
      <p:sp>
        <p:nvSpPr>
          <p:cNvPr id="50" name="Text 47"/>
          <p:cNvSpPr/>
          <p:nvPr/>
        </p:nvSpPr>
        <p:spPr>
          <a:xfrm>
            <a:off x="3491508" y="3334345"/>
            <a:ext cx="632259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89 instances</a:t>
            </a:r>
            <a:endParaRPr lang="en-US" sz="580" dirty="0"/>
          </a:p>
        </p:txBody>
      </p:sp>
      <p:sp>
        <p:nvSpPr>
          <p:cNvPr id="51" name="Shape 48"/>
          <p:cNvSpPr/>
          <p:nvPr/>
        </p:nvSpPr>
        <p:spPr>
          <a:xfrm>
            <a:off x="6096409" y="1222474"/>
            <a:ext cx="2681288" cy="3381375"/>
          </a:xfrm>
          <a:prstGeom prst="roundRect">
            <a:avLst>
              <a:gd name="adj" fmla="val 2728"/>
            </a:avLst>
          </a:prstGeom>
          <a:solidFill>
            <a:srgbClr val="FFFFFF"/>
          </a:solidFill>
          <a:ln w="9525">
            <a:solidFill>
              <a:srgbClr val="FCA5A5"/>
            </a:solidFill>
            <a:prstDash val="solid"/>
          </a:ln>
          <a:effectLst>
            <a:outerShdw sx="100000" sy="100000" kx="0" ky="0" algn="bl" rotWithShape="0" blurRad="47625" dist="9525" dir="5400000">
              <a:srgbClr val="DC2626">
                <a:alpha val="8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6105934" y="1232632"/>
            <a:ext cx="2662237" cy="661987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53" name="Text 50"/>
          <p:cNvSpPr/>
          <p:nvPr/>
        </p:nvSpPr>
        <p:spPr>
          <a:xfrm>
            <a:off x="6269980" y="1334021"/>
            <a:ext cx="1598288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" b="1" spc="43" kern="0" dirty="0">
                <a:solidFill>
                  <a:srgbClr val="CCA5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OPEN-SOURCE DEPENDENCIES</a:t>
            </a:r>
            <a:endParaRPr lang="en-US" sz="540" dirty="0"/>
          </a:p>
        </p:txBody>
      </p:sp>
      <p:sp>
        <p:nvSpPr>
          <p:cNvPr id="54" name="Text 51"/>
          <p:cNvSpPr/>
          <p:nvPr/>
        </p:nvSpPr>
        <p:spPr>
          <a:xfrm>
            <a:off x="6269980" y="1461864"/>
            <a:ext cx="464708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22"/>
              </a:spcBef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</a:t>
            </a:r>
            <a:endParaRPr lang="en-US" sz="1150" dirty="0"/>
          </a:p>
        </p:txBody>
      </p:sp>
      <p:sp>
        <p:nvSpPr>
          <p:cNvPr id="55" name="Text 52"/>
          <p:cNvSpPr/>
          <p:nvPr/>
        </p:nvSpPr>
        <p:spPr>
          <a:xfrm>
            <a:off x="6269980" y="1688902"/>
            <a:ext cx="292901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BF8E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Snyk</a:t>
            </a:r>
            <a:endParaRPr lang="en-US" sz="610" dirty="0"/>
          </a:p>
        </p:txBody>
      </p:sp>
      <p:sp>
        <p:nvSpPr>
          <p:cNvPr id="56" name="Shape 53"/>
          <p:cNvSpPr/>
          <p:nvPr/>
        </p:nvSpPr>
        <p:spPr>
          <a:xfrm>
            <a:off x="8080846" y="1673349"/>
            <a:ext cx="523875" cy="128588"/>
          </a:xfrm>
          <a:prstGeom prst="roundRect">
            <a:avLst>
              <a:gd name="adj" fmla="val 50000"/>
            </a:avLst>
          </a:prstGeom>
          <a:solidFill>
            <a:srgbClr val="DC2626">
              <a:alpha val="30000"/>
            </a:srgbClr>
          </a:solidFill>
          <a:ln/>
        </p:spPr>
      </p:sp>
      <p:sp>
        <p:nvSpPr>
          <p:cNvPr id="57" name="Text 54"/>
          <p:cNvSpPr/>
          <p:nvPr/>
        </p:nvSpPr>
        <p:spPr>
          <a:xfrm>
            <a:off x="8136285" y="1692325"/>
            <a:ext cx="594047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FCA5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+22% MoM</a:t>
            </a:r>
            <a:endParaRPr lang="en-US" sz="580" dirty="0"/>
          </a:p>
        </p:txBody>
      </p:sp>
      <p:sp>
        <p:nvSpPr>
          <p:cNvPr id="58" name="Shape 55"/>
          <p:cNvSpPr/>
          <p:nvPr/>
        </p:nvSpPr>
        <p:spPr>
          <a:xfrm>
            <a:off x="6268975" y="1998464"/>
            <a:ext cx="1138237" cy="500063"/>
          </a:xfrm>
          <a:prstGeom prst="roundRect">
            <a:avLst>
              <a:gd name="adj" fmla="val 9143"/>
            </a:avLst>
          </a:prstGeom>
          <a:solidFill>
            <a:srgbClr val="FEF2F2"/>
          </a:solidFill>
          <a:ln/>
        </p:spPr>
      </p:sp>
      <p:sp>
        <p:nvSpPr>
          <p:cNvPr id="59" name="Text 56"/>
          <p:cNvSpPr/>
          <p:nvPr/>
        </p:nvSpPr>
        <p:spPr>
          <a:xfrm>
            <a:off x="6603225" y="2083668"/>
            <a:ext cx="469739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321</a:t>
            </a:r>
            <a:endParaRPr lang="en-US" sz="1440" dirty="0"/>
          </a:p>
        </p:txBody>
      </p:sp>
      <p:sp>
        <p:nvSpPr>
          <p:cNvPr id="60" name="Text 57"/>
          <p:cNvSpPr/>
          <p:nvPr/>
        </p:nvSpPr>
        <p:spPr>
          <a:xfrm>
            <a:off x="6693869" y="2343745"/>
            <a:ext cx="288451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</a:t>
            </a:r>
            <a:endParaRPr lang="en-US" sz="540" dirty="0"/>
          </a:p>
        </p:txBody>
      </p:sp>
      <p:sp>
        <p:nvSpPr>
          <p:cNvPr id="61" name="Shape 58"/>
          <p:cNvSpPr/>
          <p:nvPr/>
        </p:nvSpPr>
        <p:spPr>
          <a:xfrm>
            <a:off x="7466893" y="1998464"/>
            <a:ext cx="1138237" cy="500063"/>
          </a:xfrm>
          <a:prstGeom prst="roundRect">
            <a:avLst>
              <a:gd name="adj" fmla="val 9143"/>
            </a:avLst>
          </a:prstGeom>
          <a:solidFill>
            <a:srgbClr val="FEF2F2"/>
          </a:solidFill>
          <a:ln/>
        </p:spPr>
      </p:sp>
      <p:sp>
        <p:nvSpPr>
          <p:cNvPr id="62" name="Text 59"/>
          <p:cNvSpPr/>
          <p:nvPr/>
        </p:nvSpPr>
        <p:spPr>
          <a:xfrm>
            <a:off x="7928461" y="2083668"/>
            <a:ext cx="215027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440" dirty="0"/>
          </a:p>
        </p:txBody>
      </p:sp>
      <p:sp>
        <p:nvSpPr>
          <p:cNvPr id="63" name="Text 60"/>
          <p:cNvSpPr/>
          <p:nvPr/>
        </p:nvSpPr>
        <p:spPr>
          <a:xfrm>
            <a:off x="7754816" y="2343745"/>
            <a:ext cx="562317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CVSS ≥ 9.0</a:t>
            </a:r>
            <a:endParaRPr lang="en-US" sz="540" dirty="0"/>
          </a:p>
        </p:txBody>
      </p:sp>
      <p:sp>
        <p:nvSpPr>
          <p:cNvPr id="64" name="Shape 61"/>
          <p:cNvSpPr/>
          <p:nvPr/>
        </p:nvSpPr>
        <p:spPr>
          <a:xfrm>
            <a:off x="6270241" y="2576252"/>
            <a:ext cx="2333625" cy="381000"/>
          </a:xfrm>
          <a:prstGeom prst="rect">
            <a:avLst/>
          </a:prstGeom>
          <a:ln/>
        </p:spPr>
      </p:sp>
      <p:sp>
        <p:nvSpPr>
          <p:cNvPr id="65" name="Text 62"/>
          <p:cNvSpPr/>
          <p:nvPr/>
        </p:nvSpPr>
        <p:spPr>
          <a:xfrm>
            <a:off x="6269980" y="2651894"/>
            <a:ext cx="570927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PRs raised</a:t>
            </a:r>
            <a:endParaRPr lang="en-US" sz="610" dirty="0"/>
          </a:p>
        </p:txBody>
      </p:sp>
      <p:sp>
        <p:nvSpPr>
          <p:cNvPr id="66" name="Text 63"/>
          <p:cNvSpPr/>
          <p:nvPr/>
        </p:nvSpPr>
        <p:spPr>
          <a:xfrm>
            <a:off x="8174236" y="2651894"/>
            <a:ext cx="616007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upgrades</a:t>
            </a:r>
            <a:endParaRPr lang="en-US" sz="610" dirty="0"/>
          </a:p>
        </p:txBody>
      </p:sp>
      <p:sp>
        <p:nvSpPr>
          <p:cNvPr id="67" name="Text 64"/>
          <p:cNvSpPr/>
          <p:nvPr/>
        </p:nvSpPr>
        <p:spPr>
          <a:xfrm>
            <a:off x="6269980" y="2809503"/>
            <a:ext cx="665827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Surge cause</a:t>
            </a:r>
            <a:endParaRPr lang="en-US" sz="610" dirty="0"/>
          </a:p>
        </p:txBody>
      </p:sp>
      <p:sp>
        <p:nvSpPr>
          <p:cNvPr id="68" name="Text 65"/>
          <p:cNvSpPr/>
          <p:nvPr/>
        </p:nvSpPr>
        <p:spPr>
          <a:xfrm>
            <a:off x="7794799" y="2809503"/>
            <a:ext cx="1109276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CVE disclosures</a:t>
            </a:r>
            <a:endParaRPr lang="en-US" sz="610" dirty="0"/>
          </a:p>
        </p:txBody>
      </p:sp>
      <p:sp>
        <p:nvSpPr>
          <p:cNvPr id="69" name="Shape 66"/>
          <p:cNvSpPr/>
          <p:nvPr/>
        </p:nvSpPr>
        <p:spPr>
          <a:xfrm>
            <a:off x="6270241" y="3034159"/>
            <a:ext cx="2333625" cy="490537"/>
          </a:xfrm>
          <a:prstGeom prst="roundRect">
            <a:avLst>
              <a:gd name="adj" fmla="val 9320"/>
            </a:avLst>
          </a:prstGeom>
          <a:solidFill>
            <a:srgbClr val="FEF2F2"/>
          </a:solidFill>
          <a:ln w="4763">
            <a:solidFill>
              <a:srgbClr val="FCA5A5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6366123" y="3110657"/>
            <a:ext cx="877104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"/>
              </a:spcAft>
              <a:buNone/>
            </a:pPr>
            <a:r>
              <a:rPr lang="en-US" sz="54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 REQUIRED</a:t>
            </a:r>
            <a:endParaRPr lang="en-US" sz="540" dirty="0"/>
          </a:p>
        </p:txBody>
      </p:sp>
      <p:sp>
        <p:nvSpPr>
          <p:cNvPr id="71" name="Text 68"/>
          <p:cNvSpPr/>
          <p:nvPr/>
        </p:nvSpPr>
        <p:spPr>
          <a:xfrm>
            <a:off x="6366123" y="3234110"/>
            <a:ext cx="1505612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Upgrade 8 critical packages</a:t>
            </a:r>
            <a:endParaRPr lang="en-US" sz="650" dirty="0"/>
          </a:p>
        </p:txBody>
      </p:sp>
      <p:sp>
        <p:nvSpPr>
          <p:cNvPr id="72" name="Text 69"/>
          <p:cNvSpPr/>
          <p:nvPr/>
        </p:nvSpPr>
        <p:spPr>
          <a:xfrm>
            <a:off x="6366123" y="3357563"/>
            <a:ext cx="1400555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PRs raised — review by Aug 7</a:t>
            </a:r>
            <a:endParaRPr lang="en-US" sz="580" dirty="0"/>
          </a:p>
        </p:txBody>
      </p:sp>
      <p:sp>
        <p:nvSpPr>
          <p:cNvPr id="73" name="Shape 70"/>
          <p:cNvSpPr/>
          <p:nvPr/>
        </p:nvSpPr>
        <p:spPr>
          <a:xfrm>
            <a:off x="366713" y="4732772"/>
            <a:ext cx="8410575" cy="204787"/>
          </a:xfrm>
          <a:prstGeom prst="rect">
            <a:avLst/>
          </a:prstGeom>
          <a:ln/>
        </p:spPr>
      </p:sp>
      <p:sp>
        <p:nvSpPr>
          <p:cNvPr id="74" name="Text 71"/>
          <p:cNvSpPr/>
          <p:nvPr/>
        </p:nvSpPr>
        <p:spPr>
          <a:xfrm>
            <a:off x="365745" y="4823892"/>
            <a:ext cx="2336884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 Security Program — Confidential</a:t>
            </a:r>
            <a:endParaRPr lang="en-US" sz="650" dirty="0"/>
          </a:p>
        </p:txBody>
      </p:sp>
      <p:sp>
        <p:nvSpPr>
          <p:cNvPr id="75" name="Text 72"/>
          <p:cNvSpPr/>
          <p:nvPr/>
        </p:nvSpPr>
        <p:spPr>
          <a:xfrm>
            <a:off x="8514531" y="4823892"/>
            <a:ext cx="39999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of 10</a:t>
            </a:r>
            <a:endParaRPr lang="en-US" sz="650" dirty="0"/>
          </a:p>
        </p:txBody>
      </p:sp>
      <p:pic>
        <p:nvPicPr>
          <p:cNvPr id="7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713" y="205271"/>
            <a:ext cx="8410575" cy="309562"/>
          </a:xfrm>
          <a:prstGeom prst="rect">
            <a:avLst/>
          </a:prstGeom>
        </p:spPr>
      </p:pic>
      <p:pic>
        <p:nvPicPr>
          <p:cNvPr id="7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5298" y="2557797"/>
            <a:ext cx="2343150" cy="381000"/>
          </a:xfrm>
          <a:prstGeom prst="rect">
            <a:avLst/>
          </a:prstGeom>
        </p:spPr>
      </p:pic>
      <p:pic>
        <p:nvPicPr>
          <p:cNvPr id="7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00388" y="2557797"/>
            <a:ext cx="2343150" cy="381000"/>
          </a:xfrm>
          <a:prstGeom prst="rect">
            <a:avLst/>
          </a:prstGeom>
        </p:spPr>
      </p:pic>
      <p:pic>
        <p:nvPicPr>
          <p:cNvPr id="79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70241" y="2576252"/>
            <a:ext cx="2333625" cy="381000"/>
          </a:xfrm>
          <a:prstGeom prst="rect">
            <a:avLst/>
          </a:prstGeom>
        </p:spPr>
      </p:pic>
      <p:pic>
        <p:nvPicPr>
          <p:cNvPr id="80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66713" y="4732772"/>
            <a:ext cx="8410575" cy="20478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" name="Shape 1"/>
          <p:cNvSpPr/>
          <p:nvPr/>
        </p:nvSpPr>
        <p:spPr>
          <a:xfrm>
            <a:off x="366713" y="205271"/>
            <a:ext cx="8410575" cy="309562"/>
          </a:xfrm>
          <a:prstGeom prst="rect">
            <a:avLst/>
          </a:prstGeom>
          <a:ln/>
        </p:spPr>
      </p:sp>
      <p:sp>
        <p:nvSpPr>
          <p:cNvPr id="4" name="Shape 2"/>
          <p:cNvSpPr/>
          <p:nvPr/>
        </p:nvSpPr>
        <p:spPr>
          <a:xfrm>
            <a:off x="366303" y="206239"/>
            <a:ext cx="200025" cy="200025"/>
          </a:xfrm>
          <a:prstGeom prst="roundRect">
            <a:avLst>
              <a:gd name="adj" fmla="val 18286"/>
            </a:avLst>
          </a:prstGeom>
          <a:solidFill>
            <a:srgbClr val="0D948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0989" y="250924"/>
            <a:ext cx="110579" cy="11057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35" y="238199"/>
            <a:ext cx="123290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AppSec Program</a:t>
            </a:r>
            <a:endParaRPr lang="en-US" sz="860" dirty="0"/>
          </a:p>
        </p:txBody>
      </p:sp>
      <p:sp>
        <p:nvSpPr>
          <p:cNvPr id="7" name="Text 4"/>
          <p:cNvSpPr/>
          <p:nvPr/>
        </p:nvSpPr>
        <p:spPr>
          <a:xfrm>
            <a:off x="6974904" y="247204"/>
            <a:ext cx="153415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PENTEST &amp; BUG BOUNTY</a:t>
            </a:r>
            <a:endParaRPr lang="en-US" sz="720" dirty="0"/>
          </a:p>
        </p:txBody>
      </p:sp>
      <p:sp>
        <p:nvSpPr>
          <p:cNvPr id="8" name="Text 5"/>
          <p:cNvSpPr/>
          <p:nvPr/>
        </p:nvSpPr>
        <p:spPr>
          <a:xfrm>
            <a:off x="8293894" y="247204"/>
            <a:ext cx="68681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JULY 2026</a:t>
            </a:r>
            <a:endParaRPr lang="en-US" sz="720" dirty="0"/>
          </a:p>
        </p:txBody>
      </p:sp>
      <p:sp>
        <p:nvSpPr>
          <p:cNvPr id="9" name="Text 6"/>
          <p:cNvSpPr/>
          <p:nvPr/>
        </p:nvSpPr>
        <p:spPr>
          <a:xfrm>
            <a:off x="365745" y="652537"/>
            <a:ext cx="141700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03"/>
              </a:spcAft>
              <a:buNone/>
            </a:pPr>
            <a:r>
              <a:rPr lang="en-US" sz="650" b="1" spc="65" kern="0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OFFENSIVE SECURITY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365745" y="773088"/>
            <a:ext cx="5404939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Penetration Test &amp; Bug Bounty</a:t>
            </a:r>
            <a:endParaRPr lang="en-US" sz="216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261" y="1222400"/>
            <a:ext cx="4024312" cy="113823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580" y="1334765"/>
            <a:ext cx="1266185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80" b="1" spc="35" kern="0" dirty="0">
                <a:solidFill>
                  <a:srgbClr val="FDFD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Q3 PENETRATION TEST</a:t>
            </a:r>
            <a:endParaRPr lang="en-US" sz="580" dirty="0"/>
          </a:p>
        </p:txBody>
      </p:sp>
      <p:sp>
        <p:nvSpPr>
          <p:cNvPr id="13" name="Text 9"/>
          <p:cNvSpPr/>
          <p:nvPr/>
        </p:nvSpPr>
        <p:spPr>
          <a:xfrm>
            <a:off x="548580" y="1474887"/>
            <a:ext cx="2707005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03"/>
              </a:spcBef>
              <a:buNone/>
            </a:pPr>
            <a:r>
              <a:rPr lang="en-US" sz="7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Completed July 10 — Scope: API &amp; Mobile</a:t>
            </a:r>
            <a:endParaRPr lang="en-US" sz="790" dirty="0"/>
          </a:p>
        </p:txBody>
      </p:sp>
      <p:sp>
        <p:nvSpPr>
          <p:cNvPr id="14" name="Shape 10"/>
          <p:cNvSpPr/>
          <p:nvPr/>
        </p:nvSpPr>
        <p:spPr>
          <a:xfrm>
            <a:off x="547650" y="1687450"/>
            <a:ext cx="847725" cy="571500"/>
          </a:xfrm>
          <a:prstGeom prst="roundRect">
            <a:avLst>
              <a:gd name="adj" fmla="val 8000"/>
            </a:avLst>
          </a:prstGeom>
          <a:solidFill>
            <a:srgbClr val="DC2626">
              <a:alpha val="3000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848183" y="1778868"/>
            <a:ext cx="246660" cy="280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789463" y="2102718"/>
            <a:ext cx="364101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FBEB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</a:t>
            </a:r>
            <a:endParaRPr lang="en-US" sz="540" dirty="0"/>
          </a:p>
        </p:txBody>
      </p:sp>
      <p:sp>
        <p:nvSpPr>
          <p:cNvPr id="17" name="Shape 13"/>
          <p:cNvSpPr/>
          <p:nvPr/>
        </p:nvSpPr>
        <p:spPr>
          <a:xfrm>
            <a:off x="1484895" y="1687450"/>
            <a:ext cx="847725" cy="571500"/>
          </a:xfrm>
          <a:prstGeom prst="roundRect">
            <a:avLst>
              <a:gd name="adj" fmla="val 8000"/>
            </a:avLst>
          </a:prstGeom>
          <a:solidFill>
            <a:srgbClr val="EA580C">
              <a:alpha val="30000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1786008" y="1778868"/>
            <a:ext cx="245499" cy="280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1780118" y="2102718"/>
            <a:ext cx="257205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FC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540" dirty="0"/>
          </a:p>
        </p:txBody>
      </p:sp>
      <p:sp>
        <p:nvSpPr>
          <p:cNvPr id="20" name="Shape 16"/>
          <p:cNvSpPr/>
          <p:nvPr/>
        </p:nvSpPr>
        <p:spPr>
          <a:xfrm>
            <a:off x="2422141" y="1687450"/>
            <a:ext cx="847725" cy="571500"/>
          </a:xfrm>
          <a:prstGeom prst="roundRect">
            <a:avLst>
              <a:gd name="adj" fmla="val 8000"/>
            </a:avLst>
          </a:prstGeom>
          <a:solidFill>
            <a:srgbClr val="F59E0B">
              <a:alpha val="30000"/>
            </a:srgbClr>
          </a:solidFill>
          <a:ln/>
        </p:spPr>
      </p:sp>
      <p:sp>
        <p:nvSpPr>
          <p:cNvPr id="21" name="Text 17"/>
          <p:cNvSpPr/>
          <p:nvPr/>
        </p:nvSpPr>
        <p:spPr>
          <a:xfrm>
            <a:off x="2719094" y="1778868"/>
            <a:ext cx="253819" cy="280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D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2643068" y="2102718"/>
            <a:ext cx="405795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FDF5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</a:t>
            </a:r>
            <a:endParaRPr lang="en-US" sz="540" dirty="0"/>
          </a:p>
        </p:txBody>
      </p:sp>
      <p:sp>
        <p:nvSpPr>
          <p:cNvPr id="23" name="Shape 19"/>
          <p:cNvSpPr/>
          <p:nvPr/>
        </p:nvSpPr>
        <p:spPr>
          <a:xfrm>
            <a:off x="3359423" y="1687450"/>
            <a:ext cx="847725" cy="57150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4" name="Text 20"/>
          <p:cNvSpPr/>
          <p:nvPr/>
        </p:nvSpPr>
        <p:spPr>
          <a:xfrm>
            <a:off x="3656339" y="1778868"/>
            <a:ext cx="253819" cy="280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3665626" y="2102718"/>
            <a:ext cx="235245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FEFE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</a:t>
            </a:r>
            <a:endParaRPr lang="en-US" sz="540" dirty="0"/>
          </a:p>
        </p:txBody>
      </p:sp>
      <p:sp>
        <p:nvSpPr>
          <p:cNvPr id="26" name="Shape 22"/>
          <p:cNvSpPr/>
          <p:nvPr/>
        </p:nvSpPr>
        <p:spPr>
          <a:xfrm>
            <a:off x="365261" y="2453208"/>
            <a:ext cx="4024312" cy="795338"/>
          </a:xfrm>
          <a:prstGeom prst="roundRect">
            <a:avLst>
              <a:gd name="adj" fmla="val 9198"/>
            </a:avLst>
          </a:prstGeom>
          <a:solidFill>
            <a:srgbClr val="FFFFFF"/>
          </a:solidFill>
          <a:ln w="9525">
            <a:solidFill>
              <a:srgbClr val="FCA5A5"/>
            </a:solidFill>
            <a:prstDash val="solid"/>
          </a:ln>
          <a:effectLst>
            <a:outerShdw sx="100000" sy="100000" kx="0" ky="0" algn="bl" rotWithShape="0" blurRad="47625" dist="9525" dir="5400000">
              <a:srgbClr val="DC2626">
                <a:alpha val="8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558217" y="2565760"/>
            <a:ext cx="361950" cy="133350"/>
          </a:xfrm>
          <a:prstGeom prst="roundRect">
            <a:avLst>
              <a:gd name="adj" fmla="val 20571"/>
            </a:avLst>
          </a:prstGeom>
          <a:solidFill>
            <a:srgbClr val="DC2626"/>
          </a:solidFill>
          <a:ln/>
        </p:spPr>
      </p:sp>
      <p:sp>
        <p:nvSpPr>
          <p:cNvPr id="28" name="Text 24"/>
          <p:cNvSpPr/>
          <p:nvPr/>
        </p:nvSpPr>
        <p:spPr>
          <a:xfrm>
            <a:off x="612949" y="2590502"/>
            <a:ext cx="385383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"/>
              </a:spcBef>
              <a:buNone/>
            </a:pPr>
            <a:r>
              <a:rPr lang="en-US" sz="5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 #1</a:t>
            </a:r>
            <a:endParaRPr lang="en-US" sz="540" dirty="0"/>
          </a:p>
        </p:txBody>
      </p:sp>
      <p:sp>
        <p:nvSpPr>
          <p:cNvPr id="29" name="Text 25"/>
          <p:cNvSpPr/>
          <p:nvPr/>
        </p:nvSpPr>
        <p:spPr>
          <a:xfrm>
            <a:off x="1011659" y="2564829"/>
            <a:ext cx="1959992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Broken Object-Level Authorization</a:t>
            </a:r>
            <a:endParaRPr lang="en-US" sz="680" dirty="0"/>
          </a:p>
        </p:txBody>
      </p:sp>
      <p:sp>
        <p:nvSpPr>
          <p:cNvPr id="30" name="Text 26"/>
          <p:cNvSpPr/>
          <p:nvPr/>
        </p:nvSpPr>
        <p:spPr>
          <a:xfrm>
            <a:off x="1011659" y="2705323"/>
            <a:ext cx="2061664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"/>
              </a:spcBef>
              <a:buNone/>
            </a:pPr>
            <a:r>
              <a:rPr lang="en-US" sz="61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/api/v2/accounts — patch shipped July 18</a:t>
            </a:r>
            <a:endParaRPr lang="en-US" sz="610" dirty="0"/>
          </a:p>
        </p:txBody>
      </p:sp>
      <p:sp>
        <p:nvSpPr>
          <p:cNvPr id="31" name="Shape 27"/>
          <p:cNvSpPr/>
          <p:nvPr/>
        </p:nvSpPr>
        <p:spPr>
          <a:xfrm>
            <a:off x="3776551" y="2554114"/>
            <a:ext cx="419100" cy="142875"/>
          </a:xfrm>
          <a:prstGeom prst="roundRect">
            <a:avLst>
              <a:gd name="adj" fmla="val 50000"/>
            </a:avLst>
          </a:prstGeom>
          <a:solidFill>
            <a:srgbClr val="0D9488">
              <a:alpha val="10000"/>
            </a:srgbClr>
          </a:solidFill>
          <a:ln/>
        </p:spPr>
      </p:sp>
      <p:sp>
        <p:nvSpPr>
          <p:cNvPr id="32" name="Text 28"/>
          <p:cNvSpPr/>
          <p:nvPr/>
        </p:nvSpPr>
        <p:spPr>
          <a:xfrm>
            <a:off x="3839468" y="2580233"/>
            <a:ext cx="438396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Patched</a:t>
            </a:r>
            <a:endParaRPr lang="en-US" sz="580" dirty="0"/>
          </a:p>
        </p:txBody>
      </p:sp>
      <p:sp>
        <p:nvSpPr>
          <p:cNvPr id="33" name="Shape 29"/>
          <p:cNvSpPr/>
          <p:nvPr/>
        </p:nvSpPr>
        <p:spPr>
          <a:xfrm>
            <a:off x="557808" y="2899879"/>
            <a:ext cx="376238" cy="133350"/>
          </a:xfrm>
          <a:prstGeom prst="roundRect">
            <a:avLst>
              <a:gd name="adj" fmla="val 20571"/>
            </a:avLst>
          </a:prstGeom>
          <a:solidFill>
            <a:srgbClr val="DC2626"/>
          </a:solidFill>
          <a:ln/>
        </p:spPr>
      </p:sp>
      <p:sp>
        <p:nvSpPr>
          <p:cNvPr id="34" name="Text 30"/>
          <p:cNvSpPr/>
          <p:nvPr/>
        </p:nvSpPr>
        <p:spPr>
          <a:xfrm>
            <a:off x="612949" y="2924621"/>
            <a:ext cx="402893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"/>
              </a:spcBef>
              <a:buNone/>
            </a:pPr>
            <a:r>
              <a:rPr lang="en-US" sz="5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 #2</a:t>
            </a:r>
            <a:endParaRPr lang="en-US" sz="540" dirty="0"/>
          </a:p>
        </p:txBody>
      </p:sp>
      <p:sp>
        <p:nvSpPr>
          <p:cNvPr id="35" name="Text 31"/>
          <p:cNvSpPr/>
          <p:nvPr/>
        </p:nvSpPr>
        <p:spPr>
          <a:xfrm>
            <a:off x="1025128" y="2898949"/>
            <a:ext cx="1488199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JWT Algorithm Confusion</a:t>
            </a:r>
            <a:endParaRPr lang="en-US" sz="680" dirty="0"/>
          </a:p>
        </p:txBody>
      </p:sp>
      <p:sp>
        <p:nvSpPr>
          <p:cNvPr id="36" name="Text 32"/>
          <p:cNvSpPr/>
          <p:nvPr/>
        </p:nvSpPr>
        <p:spPr>
          <a:xfrm>
            <a:off x="1025128" y="3039442"/>
            <a:ext cx="2280292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"/>
              </a:spcBef>
              <a:buNone/>
            </a:pPr>
            <a:r>
              <a:rPr lang="en-US" sz="61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 token bypass — patch currently in review</a:t>
            </a:r>
            <a:endParaRPr lang="en-US" sz="610" dirty="0"/>
          </a:p>
        </p:txBody>
      </p:sp>
      <p:sp>
        <p:nvSpPr>
          <p:cNvPr id="37" name="Shape 33"/>
          <p:cNvSpPr/>
          <p:nvPr/>
        </p:nvSpPr>
        <p:spPr>
          <a:xfrm>
            <a:off x="3726321" y="2888233"/>
            <a:ext cx="471488" cy="142875"/>
          </a:xfrm>
          <a:prstGeom prst="roundRect">
            <a:avLst>
              <a:gd name="adj" fmla="val 50000"/>
            </a:avLst>
          </a:prstGeom>
          <a:solidFill>
            <a:srgbClr val="F59E0B">
              <a:alpha val="10000"/>
            </a:srgbClr>
          </a:solidFill>
          <a:ln/>
        </p:spPr>
      </p:sp>
      <p:sp>
        <p:nvSpPr>
          <p:cNvPr id="38" name="Text 34"/>
          <p:cNvSpPr/>
          <p:nvPr/>
        </p:nvSpPr>
        <p:spPr>
          <a:xfrm>
            <a:off x="3791396" y="2914352"/>
            <a:ext cx="500888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Review</a:t>
            </a:r>
            <a:endParaRPr lang="en-US" sz="580" dirty="0"/>
          </a:p>
        </p:txBody>
      </p:sp>
      <p:sp>
        <p:nvSpPr>
          <p:cNvPr id="39" name="Shape 35"/>
          <p:cNvSpPr/>
          <p:nvPr/>
        </p:nvSpPr>
        <p:spPr>
          <a:xfrm>
            <a:off x="4754389" y="1222921"/>
            <a:ext cx="4024312" cy="1838325"/>
          </a:xfrm>
          <a:prstGeom prst="roundRect">
            <a:avLst>
              <a:gd name="adj" fmla="val 3979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47625" dist="9525" dir="5400000">
              <a:srgbClr val="1E3A5F">
                <a:alpha val="6000"/>
              </a:srgbClr>
            </a:outerShdw>
          </a:effectLst>
        </p:spPr>
      </p:sp>
      <p:sp>
        <p:nvSpPr>
          <p:cNvPr id="40" name="Text 36"/>
          <p:cNvSpPr/>
          <p:nvPr/>
        </p:nvSpPr>
        <p:spPr>
          <a:xfrm>
            <a:off x="4942433" y="1344290"/>
            <a:ext cx="1704216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Bug Bounty — HackerOne</a:t>
            </a:r>
            <a:endParaRPr lang="en-US" sz="790" dirty="0"/>
          </a:p>
        </p:txBody>
      </p:sp>
      <p:sp>
        <p:nvSpPr>
          <p:cNvPr id="41" name="Text 37"/>
          <p:cNvSpPr/>
          <p:nvPr/>
        </p:nvSpPr>
        <p:spPr>
          <a:xfrm>
            <a:off x="8223721" y="1356717"/>
            <a:ext cx="534166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July 2026</a:t>
            </a:r>
            <a:endParaRPr lang="en-US" sz="610" dirty="0"/>
          </a:p>
        </p:txBody>
      </p:sp>
      <p:sp>
        <p:nvSpPr>
          <p:cNvPr id="42" name="Shape 38"/>
          <p:cNvSpPr/>
          <p:nvPr/>
        </p:nvSpPr>
        <p:spPr>
          <a:xfrm>
            <a:off x="4942396" y="1557970"/>
            <a:ext cx="1143000" cy="600075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/>
        </p:spPr>
      </p:sp>
      <p:sp>
        <p:nvSpPr>
          <p:cNvPr id="43" name="Text 39"/>
          <p:cNvSpPr/>
          <p:nvPr/>
        </p:nvSpPr>
        <p:spPr>
          <a:xfrm>
            <a:off x="5289002" y="1663675"/>
            <a:ext cx="449714" cy="280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</a:t>
            </a:r>
            <a:endParaRPr lang="en-US" sz="1800" dirty="0"/>
          </a:p>
        </p:txBody>
      </p:sp>
      <p:sp>
        <p:nvSpPr>
          <p:cNvPr id="44" name="Text 40"/>
          <p:cNvSpPr/>
          <p:nvPr/>
        </p:nvSpPr>
        <p:spPr>
          <a:xfrm>
            <a:off x="5119516" y="1987525"/>
            <a:ext cx="788685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Reports received</a:t>
            </a:r>
            <a:endParaRPr lang="en-US" sz="540" dirty="0"/>
          </a:p>
        </p:txBody>
      </p:sp>
      <p:sp>
        <p:nvSpPr>
          <p:cNvPr id="45" name="Shape 41"/>
          <p:cNvSpPr/>
          <p:nvPr/>
        </p:nvSpPr>
        <p:spPr>
          <a:xfrm>
            <a:off x="6195008" y="1557970"/>
            <a:ext cx="1143000" cy="600075"/>
          </a:xfrm>
          <a:prstGeom prst="roundRect">
            <a:avLst>
              <a:gd name="adj" fmla="val 7619"/>
            </a:avLst>
          </a:prstGeom>
          <a:solidFill>
            <a:srgbClr val="F0FDF4"/>
          </a:solidFill>
          <a:ln/>
        </p:spPr>
      </p:sp>
      <p:sp>
        <p:nvSpPr>
          <p:cNvPr id="46" name="Text 42"/>
          <p:cNvSpPr/>
          <p:nvPr/>
        </p:nvSpPr>
        <p:spPr>
          <a:xfrm>
            <a:off x="6570044" y="1663675"/>
            <a:ext cx="392929" cy="280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800" dirty="0"/>
          </a:p>
        </p:txBody>
      </p:sp>
      <p:sp>
        <p:nvSpPr>
          <p:cNvPr id="47" name="Text 43"/>
          <p:cNvSpPr/>
          <p:nvPr/>
        </p:nvSpPr>
        <p:spPr>
          <a:xfrm>
            <a:off x="6463739" y="1987525"/>
            <a:ext cx="605463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 reports</a:t>
            </a:r>
            <a:endParaRPr lang="en-US" sz="540" dirty="0"/>
          </a:p>
        </p:txBody>
      </p:sp>
      <p:sp>
        <p:nvSpPr>
          <p:cNvPr id="48" name="Shape 44"/>
          <p:cNvSpPr/>
          <p:nvPr/>
        </p:nvSpPr>
        <p:spPr>
          <a:xfrm>
            <a:off x="7447620" y="1557970"/>
            <a:ext cx="1143000" cy="600075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/>
        </p:spPr>
      </p:sp>
      <p:sp>
        <p:nvSpPr>
          <p:cNvPr id="49" name="Text 45"/>
          <p:cNvSpPr/>
          <p:nvPr/>
        </p:nvSpPr>
        <p:spPr>
          <a:xfrm>
            <a:off x="7859331" y="1663675"/>
            <a:ext cx="319504" cy="280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800" dirty="0"/>
          </a:p>
        </p:txBody>
      </p:sp>
      <p:sp>
        <p:nvSpPr>
          <p:cNvPr id="50" name="Text 46"/>
          <p:cNvSpPr/>
          <p:nvPr/>
        </p:nvSpPr>
        <p:spPr>
          <a:xfrm>
            <a:off x="7761904" y="1987525"/>
            <a:ext cx="514432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Duplicates</a:t>
            </a:r>
            <a:endParaRPr lang="en-US" sz="540" dirty="0"/>
          </a:p>
        </p:txBody>
      </p:sp>
      <p:sp>
        <p:nvSpPr>
          <p:cNvPr id="51" name="Shape 47"/>
          <p:cNvSpPr/>
          <p:nvPr/>
        </p:nvSpPr>
        <p:spPr>
          <a:xfrm>
            <a:off x="4941540" y="2235064"/>
            <a:ext cx="1757363" cy="719137"/>
          </a:xfrm>
          <a:prstGeom prst="roundRect">
            <a:avLst>
              <a:gd name="adj" fmla="val 6358"/>
            </a:avLst>
          </a:prstGeom>
          <a:solidFill>
            <a:srgbClr val="FFFBEB"/>
          </a:solidFill>
          <a:ln w="4763">
            <a:solidFill>
              <a:srgbClr val="FDE68A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5056882" y="2326481"/>
            <a:ext cx="839763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03"/>
              </a:spcAft>
              <a:buNone/>
            </a:pPr>
            <a:r>
              <a:rPr lang="en-US" sz="540" b="1" spc="22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PAID OUT</a:t>
            </a:r>
            <a:endParaRPr lang="en-US" sz="540" dirty="0"/>
          </a:p>
        </p:txBody>
      </p:sp>
      <p:sp>
        <p:nvSpPr>
          <p:cNvPr id="53" name="Text 49"/>
          <p:cNvSpPr/>
          <p:nvPr/>
        </p:nvSpPr>
        <p:spPr>
          <a:xfrm>
            <a:off x="5056882" y="2474119"/>
            <a:ext cx="1132493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$18,500</a:t>
            </a:r>
            <a:endParaRPr lang="en-US" sz="1580" dirty="0"/>
          </a:p>
        </p:txBody>
      </p:sp>
      <p:sp>
        <p:nvSpPr>
          <p:cNvPr id="54" name="Text 50"/>
          <p:cNvSpPr/>
          <p:nvPr/>
        </p:nvSpPr>
        <p:spPr>
          <a:xfrm>
            <a:off x="5056882" y="2772147"/>
            <a:ext cx="558641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22"/>
              </a:spcBef>
              <a:buNone/>
            </a:pPr>
            <a:r>
              <a:rPr lang="en-US" sz="5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month</a:t>
            </a:r>
            <a:endParaRPr lang="en-US" sz="580" dirty="0"/>
          </a:p>
        </p:txBody>
      </p:sp>
      <p:sp>
        <p:nvSpPr>
          <p:cNvPr id="55" name="Shape 51"/>
          <p:cNvSpPr/>
          <p:nvPr/>
        </p:nvSpPr>
        <p:spPr>
          <a:xfrm>
            <a:off x="6834262" y="2235064"/>
            <a:ext cx="1757363" cy="719137"/>
          </a:xfrm>
          <a:prstGeom prst="roundRect">
            <a:avLst>
              <a:gd name="adj" fmla="val 6358"/>
            </a:avLst>
          </a:prstGeom>
          <a:solidFill>
            <a:srgbClr val="FEF2F2"/>
          </a:solidFill>
          <a:ln w="4763">
            <a:solidFill>
              <a:srgbClr val="FCA5A5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6949604" y="2326481"/>
            <a:ext cx="910575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03"/>
              </a:spcAft>
              <a:buNone/>
            </a:pPr>
            <a:r>
              <a:rPr lang="en-US" sz="540" b="1" spc="22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HIGHEST BOUNTY</a:t>
            </a:r>
            <a:endParaRPr lang="en-US" sz="540" dirty="0"/>
          </a:p>
        </p:txBody>
      </p:sp>
      <p:sp>
        <p:nvSpPr>
          <p:cNvPr id="57" name="Text 53"/>
          <p:cNvSpPr/>
          <p:nvPr/>
        </p:nvSpPr>
        <p:spPr>
          <a:xfrm>
            <a:off x="6949604" y="2474119"/>
            <a:ext cx="1016890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$5,000</a:t>
            </a:r>
            <a:endParaRPr lang="en-US" sz="1580" dirty="0"/>
          </a:p>
        </p:txBody>
      </p:sp>
      <p:sp>
        <p:nvSpPr>
          <p:cNvPr id="58" name="Text 54"/>
          <p:cNvSpPr/>
          <p:nvPr/>
        </p:nvSpPr>
        <p:spPr>
          <a:xfrm>
            <a:off x="6949604" y="2772147"/>
            <a:ext cx="1058681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22"/>
              </a:spcBef>
              <a:buNone/>
            </a:pPr>
            <a:r>
              <a:rPr lang="en-US" sz="5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SSRF in image service</a:t>
            </a:r>
            <a:endParaRPr lang="en-US" sz="580" dirty="0"/>
          </a:p>
        </p:txBody>
      </p:sp>
      <p:sp>
        <p:nvSpPr>
          <p:cNvPr id="59" name="Shape 55"/>
          <p:cNvSpPr/>
          <p:nvPr/>
        </p:nvSpPr>
        <p:spPr>
          <a:xfrm>
            <a:off x="4754389" y="3153259"/>
            <a:ext cx="4024312" cy="671513"/>
          </a:xfrm>
          <a:prstGeom prst="roundRect">
            <a:avLst>
              <a:gd name="adj" fmla="val 10894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47625" dist="9525" dir="5400000">
              <a:srgbClr val="1E3A5F">
                <a:alpha val="6000"/>
              </a:srgbClr>
            </a:outerShdw>
          </a:effectLst>
        </p:spPr>
      </p:sp>
      <p:sp>
        <p:nvSpPr>
          <p:cNvPr id="60" name="Text 56"/>
          <p:cNvSpPr/>
          <p:nvPr/>
        </p:nvSpPr>
        <p:spPr>
          <a:xfrm>
            <a:off x="4942433" y="3271465"/>
            <a:ext cx="112804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86"/>
              </a:spcAft>
              <a:buNone/>
            </a:pPr>
            <a:r>
              <a:rPr lang="en-US" sz="7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 Disposition</a:t>
            </a:r>
            <a:endParaRPr lang="en-US" sz="720" dirty="0"/>
          </a:p>
        </p:txBody>
      </p:sp>
      <p:pic>
        <p:nvPicPr>
          <p:cNvPr id="61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42805" y="3461221"/>
            <a:ext cx="1309687" cy="76200"/>
          </a:xfrm>
          <a:prstGeom prst="rect">
            <a:avLst/>
          </a:prstGeom>
        </p:spPr>
      </p:pic>
      <p:sp>
        <p:nvSpPr>
          <p:cNvPr id="62" name="Shape 57"/>
          <p:cNvSpPr/>
          <p:nvPr/>
        </p:nvSpPr>
        <p:spPr>
          <a:xfrm>
            <a:off x="6299002" y="3461221"/>
            <a:ext cx="1028700" cy="76200"/>
          </a:xfrm>
          <a:prstGeom prst="rect">
            <a:avLst/>
          </a:prstGeom>
          <a:solidFill>
            <a:srgbClr val="CBD5E1"/>
          </a:solidFill>
          <a:ln/>
        </p:spPr>
      </p:sp>
      <p:pic>
        <p:nvPicPr>
          <p:cNvPr id="63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72648" y="3461221"/>
            <a:ext cx="1219200" cy="76200"/>
          </a:xfrm>
          <a:prstGeom prst="rect">
            <a:avLst/>
          </a:prstGeom>
        </p:spPr>
      </p:pic>
      <p:sp>
        <p:nvSpPr>
          <p:cNvPr id="64" name="Shape 58"/>
          <p:cNvSpPr/>
          <p:nvPr/>
        </p:nvSpPr>
        <p:spPr>
          <a:xfrm>
            <a:off x="4943289" y="3622067"/>
            <a:ext cx="71438" cy="71438"/>
          </a:xfrm>
          <a:prstGeom prst="roundRect">
            <a:avLst>
              <a:gd name="adj" fmla="val 19200"/>
            </a:avLst>
          </a:prstGeom>
          <a:solidFill>
            <a:srgbClr val="0D9488"/>
          </a:solidFill>
          <a:ln/>
        </p:spPr>
      </p:sp>
      <p:sp>
        <p:nvSpPr>
          <p:cNvPr id="65" name="Text 59"/>
          <p:cNvSpPr/>
          <p:nvPr/>
        </p:nvSpPr>
        <p:spPr>
          <a:xfrm>
            <a:off x="5052120" y="3609082"/>
            <a:ext cx="536295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 37%</a:t>
            </a:r>
            <a:endParaRPr lang="en-US" sz="610" dirty="0"/>
          </a:p>
        </p:txBody>
      </p:sp>
      <p:sp>
        <p:nvSpPr>
          <p:cNvPr id="66" name="Shape 60"/>
          <p:cNvSpPr/>
          <p:nvPr/>
        </p:nvSpPr>
        <p:spPr>
          <a:xfrm>
            <a:off x="5604383" y="3622067"/>
            <a:ext cx="71438" cy="71438"/>
          </a:xfrm>
          <a:prstGeom prst="roundRect">
            <a:avLst>
              <a:gd name="adj" fmla="val 19200"/>
            </a:avLst>
          </a:prstGeom>
          <a:solidFill>
            <a:srgbClr val="CBD5E1"/>
          </a:solidFill>
          <a:ln/>
        </p:spPr>
      </p:sp>
      <p:sp>
        <p:nvSpPr>
          <p:cNvPr id="67" name="Text 61"/>
          <p:cNvSpPr/>
          <p:nvPr/>
        </p:nvSpPr>
        <p:spPr>
          <a:xfrm>
            <a:off x="5713214" y="3609082"/>
            <a:ext cx="758696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Duplicate 29%</a:t>
            </a:r>
            <a:endParaRPr lang="en-US" sz="610" dirty="0"/>
          </a:p>
        </p:txBody>
      </p:sp>
      <p:sp>
        <p:nvSpPr>
          <p:cNvPr id="68" name="Shape 62"/>
          <p:cNvSpPr/>
          <p:nvPr/>
        </p:nvSpPr>
        <p:spPr>
          <a:xfrm>
            <a:off x="6436556" y="3622067"/>
            <a:ext cx="71438" cy="71438"/>
          </a:xfrm>
          <a:prstGeom prst="roundRect">
            <a:avLst>
              <a:gd name="adj" fmla="val 19200"/>
            </a:avLst>
          </a:prstGeom>
          <a:solidFill>
            <a:srgbClr val="F1F5F9"/>
          </a:solidFill>
          <a:ln w="4763">
            <a:solidFill>
              <a:srgbClr val="E2E8F0"/>
            </a:solidFill>
            <a:prstDash val="solid"/>
          </a:ln>
        </p:spPr>
      </p:sp>
      <p:sp>
        <p:nvSpPr>
          <p:cNvPr id="69" name="Text 63"/>
          <p:cNvSpPr/>
          <p:nvPr/>
        </p:nvSpPr>
        <p:spPr>
          <a:xfrm>
            <a:off x="6545387" y="3609082"/>
            <a:ext cx="579247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Other 34%</a:t>
            </a:r>
            <a:endParaRPr lang="en-US" sz="610" dirty="0"/>
          </a:p>
        </p:txBody>
      </p:sp>
      <p:sp>
        <p:nvSpPr>
          <p:cNvPr id="70" name="Shape 64"/>
          <p:cNvSpPr/>
          <p:nvPr/>
        </p:nvSpPr>
        <p:spPr>
          <a:xfrm>
            <a:off x="366713" y="4732772"/>
            <a:ext cx="8410575" cy="204787"/>
          </a:xfrm>
          <a:prstGeom prst="rect">
            <a:avLst/>
          </a:prstGeom>
          <a:ln/>
        </p:spPr>
      </p:sp>
      <p:sp>
        <p:nvSpPr>
          <p:cNvPr id="71" name="Text 65"/>
          <p:cNvSpPr/>
          <p:nvPr/>
        </p:nvSpPr>
        <p:spPr>
          <a:xfrm>
            <a:off x="365745" y="4823892"/>
            <a:ext cx="2336884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 Security Program — Confidential</a:t>
            </a:r>
            <a:endParaRPr lang="en-US" sz="650" dirty="0"/>
          </a:p>
        </p:txBody>
      </p:sp>
      <p:sp>
        <p:nvSpPr>
          <p:cNvPr id="72" name="Text 66"/>
          <p:cNvSpPr/>
          <p:nvPr/>
        </p:nvSpPr>
        <p:spPr>
          <a:xfrm>
            <a:off x="8519294" y="4823892"/>
            <a:ext cx="39379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of 10</a:t>
            </a:r>
            <a:endParaRPr lang="en-US" sz="650" dirty="0"/>
          </a:p>
        </p:txBody>
      </p:sp>
      <p:pic>
        <p:nvPicPr>
          <p:cNvPr id="73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6713" y="205271"/>
            <a:ext cx="8410575" cy="309562"/>
          </a:xfrm>
          <a:prstGeom prst="rect">
            <a:avLst/>
          </a:prstGeom>
        </p:spPr>
      </p:pic>
      <p:pic>
        <p:nvPicPr>
          <p:cNvPr id="74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66713" y="4732772"/>
            <a:ext cx="8410575" cy="20478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" name="Shape 1"/>
          <p:cNvSpPr/>
          <p:nvPr/>
        </p:nvSpPr>
        <p:spPr>
          <a:xfrm>
            <a:off x="366713" y="205271"/>
            <a:ext cx="8410575" cy="309562"/>
          </a:xfrm>
          <a:prstGeom prst="rect">
            <a:avLst/>
          </a:prstGeom>
          <a:ln/>
        </p:spPr>
      </p:sp>
      <p:sp>
        <p:nvSpPr>
          <p:cNvPr id="4" name="Shape 2"/>
          <p:cNvSpPr/>
          <p:nvPr/>
        </p:nvSpPr>
        <p:spPr>
          <a:xfrm>
            <a:off x="366303" y="206239"/>
            <a:ext cx="200025" cy="200025"/>
          </a:xfrm>
          <a:prstGeom prst="roundRect">
            <a:avLst>
              <a:gd name="adj" fmla="val 18286"/>
            </a:avLst>
          </a:prstGeom>
          <a:solidFill>
            <a:srgbClr val="0D948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0989" y="250924"/>
            <a:ext cx="110579" cy="11057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35" y="238199"/>
            <a:ext cx="123290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AppSec Program</a:t>
            </a:r>
            <a:endParaRPr lang="en-US" sz="860" dirty="0"/>
          </a:p>
        </p:txBody>
      </p:sp>
      <p:sp>
        <p:nvSpPr>
          <p:cNvPr id="7" name="Text 4"/>
          <p:cNvSpPr/>
          <p:nvPr/>
        </p:nvSpPr>
        <p:spPr>
          <a:xfrm>
            <a:off x="6731868" y="247204"/>
            <a:ext cx="185009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 &amp; AUDIT STATUS</a:t>
            </a:r>
            <a:endParaRPr lang="en-US" sz="720" dirty="0"/>
          </a:p>
        </p:txBody>
      </p:sp>
      <p:sp>
        <p:nvSpPr>
          <p:cNvPr id="8" name="Text 5"/>
          <p:cNvSpPr/>
          <p:nvPr/>
        </p:nvSpPr>
        <p:spPr>
          <a:xfrm>
            <a:off x="8293894" y="247204"/>
            <a:ext cx="68681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JULY 2026</a:t>
            </a:r>
            <a:endParaRPr lang="en-US" sz="720" dirty="0"/>
          </a:p>
        </p:txBody>
      </p:sp>
      <p:sp>
        <p:nvSpPr>
          <p:cNvPr id="9" name="Text 6"/>
          <p:cNvSpPr/>
          <p:nvPr/>
        </p:nvSpPr>
        <p:spPr>
          <a:xfrm>
            <a:off x="365745" y="652537"/>
            <a:ext cx="1426577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03"/>
              </a:spcAft>
              <a:buNone/>
            </a:pPr>
            <a:r>
              <a:rPr lang="en-US" sz="650" b="1" spc="65" kern="0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REGULATORY &amp; AUDIT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365745" y="773088"/>
            <a:ext cx="4759017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 &amp; Audit Status</a:t>
            </a:r>
            <a:endParaRPr lang="en-US" sz="2160" dirty="0"/>
          </a:p>
        </p:txBody>
      </p:sp>
      <p:sp>
        <p:nvSpPr>
          <p:cNvPr id="11" name="Shape 8"/>
          <p:cNvSpPr/>
          <p:nvPr/>
        </p:nvSpPr>
        <p:spPr>
          <a:xfrm>
            <a:off x="366229" y="1222474"/>
            <a:ext cx="2681288" cy="3381375"/>
          </a:xfrm>
          <a:prstGeom prst="roundRect">
            <a:avLst>
              <a:gd name="adj" fmla="val 2728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47625" dist="9525" dir="5400000">
              <a:srgbClr val="1E3A5F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70991" y="1227795"/>
            <a:ext cx="2671763" cy="55245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Text 10"/>
          <p:cNvSpPr/>
          <p:nvPr/>
        </p:nvSpPr>
        <p:spPr>
          <a:xfrm>
            <a:off x="553343" y="1339528"/>
            <a:ext cx="1701507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" b="1" spc="32" kern="0" dirty="0">
                <a:solidFill>
                  <a:srgbClr val="8F9D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WINDOW: MAY – OCT 2026</a:t>
            </a:r>
            <a:endParaRPr lang="en-US" sz="540" dirty="0"/>
          </a:p>
        </p:txBody>
      </p:sp>
      <p:sp>
        <p:nvSpPr>
          <p:cNvPr id="14" name="Text 11"/>
          <p:cNvSpPr/>
          <p:nvPr/>
        </p:nvSpPr>
        <p:spPr>
          <a:xfrm>
            <a:off x="553343" y="1477640"/>
            <a:ext cx="1295787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03"/>
              </a:spcBef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2 Type II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2374069" y="1330226"/>
            <a:ext cx="485775" cy="157163"/>
          </a:xfrm>
          <a:prstGeom prst="roundRect">
            <a:avLst>
              <a:gd name="adj" fmla="val 50000"/>
            </a:avLst>
          </a:prstGeom>
          <a:solidFill>
            <a:srgbClr val="4ADE80">
              <a:alpha val="15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2446660" y="1360066"/>
            <a:ext cx="499921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Track</a:t>
            </a:r>
            <a:endParaRPr lang="en-US" sz="610" dirty="0"/>
          </a:p>
        </p:txBody>
      </p:sp>
      <p:sp>
        <p:nvSpPr>
          <p:cNvPr id="17" name="Text 14"/>
          <p:cNvSpPr/>
          <p:nvPr/>
        </p:nvSpPr>
        <p:spPr>
          <a:xfrm>
            <a:off x="553343" y="1893243"/>
            <a:ext cx="106535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collection</a:t>
            </a: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2675483" y="1893243"/>
            <a:ext cx="297545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87%</a:t>
            </a:r>
            <a:endParaRPr lang="en-US" sz="650" dirty="0"/>
          </a:p>
        </p:txBody>
      </p:sp>
      <p:sp>
        <p:nvSpPr>
          <p:cNvPr id="19" name="Shape 16"/>
          <p:cNvSpPr/>
          <p:nvPr/>
        </p:nvSpPr>
        <p:spPr>
          <a:xfrm>
            <a:off x="554348" y="2036899"/>
            <a:ext cx="2305050" cy="381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20" name="Shape 17"/>
          <p:cNvSpPr/>
          <p:nvPr/>
        </p:nvSpPr>
        <p:spPr>
          <a:xfrm>
            <a:off x="554385" y="2036899"/>
            <a:ext cx="2005012" cy="381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21" name="Text 18"/>
          <p:cNvSpPr/>
          <p:nvPr/>
        </p:nvSpPr>
        <p:spPr>
          <a:xfrm>
            <a:off x="553343" y="2160538"/>
            <a:ext cx="120446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gaps identified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2807271" y="2160538"/>
            <a:ext cx="126221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650" dirty="0"/>
          </a:p>
        </p:txBody>
      </p:sp>
      <p:sp>
        <p:nvSpPr>
          <p:cNvPr id="23" name="Text 20"/>
          <p:cNvSpPr/>
          <p:nvPr/>
        </p:nvSpPr>
        <p:spPr>
          <a:xfrm>
            <a:off x="553343" y="2335411"/>
            <a:ext cx="98322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Remediation plans</a:t>
            </a:r>
            <a:endParaRPr lang="en-US" sz="650" dirty="0"/>
          </a:p>
        </p:txBody>
      </p:sp>
      <p:sp>
        <p:nvSpPr>
          <p:cNvPr id="24" name="Text 21"/>
          <p:cNvSpPr/>
          <p:nvPr/>
        </p:nvSpPr>
        <p:spPr>
          <a:xfrm>
            <a:off x="2603302" y="2335411"/>
            <a:ext cx="391381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553343" y="2510284"/>
            <a:ext cx="89209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 expected</a:t>
            </a:r>
            <a:endParaRPr lang="en-US" sz="650" dirty="0"/>
          </a:p>
        </p:txBody>
      </p:sp>
      <p:sp>
        <p:nvSpPr>
          <p:cNvPr id="26" name="Text 23"/>
          <p:cNvSpPr/>
          <p:nvPr/>
        </p:nvSpPr>
        <p:spPr>
          <a:xfrm>
            <a:off x="2210693" y="2510284"/>
            <a:ext cx="901772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November 2026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3231319" y="1222474"/>
            <a:ext cx="2681288" cy="3381375"/>
          </a:xfrm>
          <a:prstGeom prst="roundRect">
            <a:avLst>
              <a:gd name="adj" fmla="val 2728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47625" dist="9525" dir="5400000">
              <a:srgbClr val="1E3A5F">
                <a:alpha val="6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3236082" y="1227795"/>
            <a:ext cx="2671763" cy="552450"/>
          </a:xfrm>
          <a:prstGeom prst="rect">
            <a:avLst/>
          </a:prstGeom>
          <a:solidFill>
            <a:srgbClr val="0D4A6E"/>
          </a:solidFill>
          <a:ln/>
        </p:spPr>
      </p:sp>
      <p:sp>
        <p:nvSpPr>
          <p:cNvPr id="29" name="Text 26"/>
          <p:cNvSpPr/>
          <p:nvPr/>
        </p:nvSpPr>
        <p:spPr>
          <a:xfrm>
            <a:off x="3418433" y="1339528"/>
            <a:ext cx="1541792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" b="1" spc="32" kern="0" dirty="0">
                <a:solidFill>
                  <a:srgbClr val="86A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SURVEILLANCE AUDIT: AUG 14</a:t>
            </a:r>
            <a:endParaRPr lang="en-US" sz="540" dirty="0"/>
          </a:p>
        </p:txBody>
      </p:sp>
      <p:sp>
        <p:nvSpPr>
          <p:cNvPr id="30" name="Text 27"/>
          <p:cNvSpPr/>
          <p:nvPr/>
        </p:nvSpPr>
        <p:spPr>
          <a:xfrm>
            <a:off x="3418433" y="1477640"/>
            <a:ext cx="1002960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03"/>
              </a:spcBef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 27001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5152913" y="1330226"/>
            <a:ext cx="571500" cy="157163"/>
          </a:xfrm>
          <a:prstGeom prst="roundRect">
            <a:avLst>
              <a:gd name="adj" fmla="val 50000"/>
            </a:avLst>
          </a:prstGeom>
          <a:solidFill>
            <a:srgbClr val="FBBF24">
              <a:alpha val="1500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5224983" y="1360066"/>
            <a:ext cx="612718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 Phase</a:t>
            </a:r>
            <a:endParaRPr lang="en-US" sz="610" dirty="0"/>
          </a:p>
        </p:txBody>
      </p:sp>
      <p:sp>
        <p:nvSpPr>
          <p:cNvPr id="33" name="Text 30"/>
          <p:cNvSpPr/>
          <p:nvPr/>
        </p:nvSpPr>
        <p:spPr>
          <a:xfrm>
            <a:off x="3418433" y="1893243"/>
            <a:ext cx="8662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readiness</a:t>
            </a:r>
            <a:endParaRPr lang="en-US" sz="650" dirty="0"/>
          </a:p>
        </p:txBody>
      </p:sp>
      <p:sp>
        <p:nvSpPr>
          <p:cNvPr id="34" name="Text 31"/>
          <p:cNvSpPr/>
          <p:nvPr/>
        </p:nvSpPr>
        <p:spPr>
          <a:xfrm>
            <a:off x="5273427" y="1893243"/>
            <a:ext cx="644835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progress</a:t>
            </a:r>
            <a:endParaRPr lang="en-US" sz="650" dirty="0"/>
          </a:p>
        </p:txBody>
      </p:sp>
      <p:sp>
        <p:nvSpPr>
          <p:cNvPr id="35" name="Shape 32"/>
          <p:cNvSpPr/>
          <p:nvPr/>
        </p:nvSpPr>
        <p:spPr>
          <a:xfrm>
            <a:off x="3419438" y="2036899"/>
            <a:ext cx="2305050" cy="381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36" name="Shape 33"/>
          <p:cNvSpPr/>
          <p:nvPr/>
        </p:nvSpPr>
        <p:spPr>
          <a:xfrm>
            <a:off x="3418061" y="2036899"/>
            <a:ext cx="1800225" cy="381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37" name="Text 34"/>
          <p:cNvSpPr/>
          <p:nvPr/>
        </p:nvSpPr>
        <p:spPr>
          <a:xfrm>
            <a:off x="3418433" y="2160538"/>
            <a:ext cx="104068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Mandatory controls</a:t>
            </a:r>
            <a:endParaRPr lang="en-US" sz="650" dirty="0"/>
          </a:p>
        </p:txBody>
      </p:sp>
      <p:sp>
        <p:nvSpPr>
          <p:cNvPr id="38" name="Text 35"/>
          <p:cNvSpPr/>
          <p:nvPr/>
        </p:nvSpPr>
        <p:spPr>
          <a:xfrm>
            <a:off x="5290542" y="2160538"/>
            <a:ext cx="622585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verified</a:t>
            </a:r>
            <a:endParaRPr lang="en-US" sz="650" dirty="0"/>
          </a:p>
        </p:txBody>
      </p:sp>
      <p:sp>
        <p:nvSpPr>
          <p:cNvPr id="39" name="Text 36"/>
          <p:cNvSpPr/>
          <p:nvPr/>
        </p:nvSpPr>
        <p:spPr>
          <a:xfrm>
            <a:off x="3418433" y="2335411"/>
            <a:ext cx="106487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 nonconformity</a:t>
            </a:r>
            <a:endParaRPr lang="en-US" sz="650" dirty="0"/>
          </a:p>
        </p:txBody>
      </p:sp>
      <p:sp>
        <p:nvSpPr>
          <p:cNvPr id="40" name="Text 37"/>
          <p:cNvSpPr/>
          <p:nvPr/>
        </p:nvSpPr>
        <p:spPr>
          <a:xfrm>
            <a:off x="5445026" y="2335411"/>
            <a:ext cx="421757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Closed</a:t>
            </a:r>
            <a:endParaRPr lang="en-US" sz="650" dirty="0"/>
          </a:p>
        </p:txBody>
      </p:sp>
      <p:sp>
        <p:nvSpPr>
          <p:cNvPr id="41" name="Text 38"/>
          <p:cNvSpPr/>
          <p:nvPr/>
        </p:nvSpPr>
        <p:spPr>
          <a:xfrm>
            <a:off x="3418433" y="2510284"/>
            <a:ext cx="572281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date</a:t>
            </a:r>
            <a:endParaRPr lang="en-US" sz="650" dirty="0"/>
          </a:p>
        </p:txBody>
      </p:sp>
      <p:sp>
        <p:nvSpPr>
          <p:cNvPr id="42" name="Text 39"/>
          <p:cNvSpPr/>
          <p:nvPr/>
        </p:nvSpPr>
        <p:spPr>
          <a:xfrm>
            <a:off x="5068937" y="2510284"/>
            <a:ext cx="910672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August 14, 2026</a:t>
            </a:r>
            <a:endParaRPr lang="en-US" sz="650" dirty="0"/>
          </a:p>
        </p:txBody>
      </p:sp>
      <p:sp>
        <p:nvSpPr>
          <p:cNvPr id="43" name="Shape 40"/>
          <p:cNvSpPr/>
          <p:nvPr/>
        </p:nvSpPr>
        <p:spPr>
          <a:xfrm>
            <a:off x="3419438" y="2700933"/>
            <a:ext cx="2305050" cy="366712"/>
          </a:xfrm>
          <a:prstGeom prst="roundRect">
            <a:avLst>
              <a:gd name="adj" fmla="val 12468"/>
            </a:avLst>
          </a:prstGeom>
          <a:solidFill>
            <a:srgbClr val="FFFBEB"/>
          </a:solidFill>
          <a:ln w="4763">
            <a:solidFill>
              <a:srgbClr val="FDE68A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514576" y="2777282"/>
            <a:ext cx="2751601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8"/>
              </a:lnSpc>
              <a:buNone/>
            </a:pPr>
            <a:r>
              <a:rPr lang="en-US" sz="610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 sprint underway — 1 minor nonconformity from last</a:t>
            </a:r>
            <a:endParaRPr lang="en-US" sz="610" dirty="0"/>
          </a:p>
          <a:p>
            <a:pPr algn="l" indent="0" marL="0">
              <a:lnSpc>
                <a:spcPts val="918"/>
              </a:lnSpc>
              <a:buNone/>
            </a:pPr>
            <a:r>
              <a:rPr lang="en-US" sz="610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 closed</a:t>
            </a:r>
            <a:endParaRPr lang="en-US" sz="610" dirty="0"/>
          </a:p>
        </p:txBody>
      </p:sp>
      <p:sp>
        <p:nvSpPr>
          <p:cNvPr id="45" name="Shape 42"/>
          <p:cNvSpPr/>
          <p:nvPr/>
        </p:nvSpPr>
        <p:spPr>
          <a:xfrm>
            <a:off x="6096409" y="1222474"/>
            <a:ext cx="2681288" cy="3381375"/>
          </a:xfrm>
          <a:prstGeom prst="roundRect">
            <a:avLst>
              <a:gd name="adj" fmla="val 2728"/>
            </a:avLst>
          </a:prstGeom>
          <a:solidFill>
            <a:srgbClr val="FFFFFF"/>
          </a:solidFill>
          <a:ln w="9525">
            <a:solidFill>
              <a:srgbClr val="FCA5A5"/>
            </a:solidFill>
            <a:prstDash val="solid"/>
          </a:ln>
          <a:effectLst>
            <a:outerShdw sx="100000" sy="100000" kx="0" ky="0" algn="bl" rotWithShape="0" blurRad="47625" dist="9525" dir="5400000">
              <a:srgbClr val="DC2626">
                <a:alpha val="8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6105934" y="1232557"/>
            <a:ext cx="2662237" cy="552450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47" name="Text 44"/>
          <p:cNvSpPr/>
          <p:nvPr/>
        </p:nvSpPr>
        <p:spPr>
          <a:xfrm>
            <a:off x="6288286" y="1344290"/>
            <a:ext cx="958654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" b="1" spc="32" kern="0" dirty="0">
                <a:solidFill>
                  <a:srgbClr val="BF8E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 ASSESSMENT</a:t>
            </a:r>
            <a:endParaRPr lang="en-US" sz="540" dirty="0"/>
          </a:p>
        </p:txBody>
      </p:sp>
      <p:sp>
        <p:nvSpPr>
          <p:cNvPr id="48" name="Text 45"/>
          <p:cNvSpPr/>
          <p:nvPr/>
        </p:nvSpPr>
        <p:spPr>
          <a:xfrm>
            <a:off x="6288286" y="1482403"/>
            <a:ext cx="1166061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03"/>
              </a:spcBef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PCI DSS 4.0</a:t>
            </a:r>
            <a:endParaRPr lang="en-US" sz="1150" dirty="0"/>
          </a:p>
        </p:txBody>
      </p:sp>
      <p:sp>
        <p:nvSpPr>
          <p:cNvPr id="49" name="Shape 46"/>
          <p:cNvSpPr/>
          <p:nvPr/>
        </p:nvSpPr>
        <p:spPr>
          <a:xfrm>
            <a:off x="7824639" y="1334988"/>
            <a:ext cx="762000" cy="157163"/>
          </a:xfrm>
          <a:prstGeom prst="roundRect">
            <a:avLst>
              <a:gd name="adj" fmla="val 50000"/>
            </a:avLst>
          </a:prstGeom>
          <a:solidFill>
            <a:srgbClr val="DC2626">
              <a:alpha val="25000"/>
            </a:srgbClr>
          </a:solidFill>
          <a:ln/>
        </p:spPr>
      </p:sp>
      <p:sp>
        <p:nvSpPr>
          <p:cNvPr id="50" name="Text 47"/>
          <p:cNvSpPr/>
          <p:nvPr/>
        </p:nvSpPr>
        <p:spPr>
          <a:xfrm>
            <a:off x="7898606" y="1364828"/>
            <a:ext cx="855434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Needs Attention</a:t>
            </a:r>
            <a:endParaRPr lang="en-US" sz="610" dirty="0"/>
          </a:p>
        </p:txBody>
      </p:sp>
      <p:sp>
        <p:nvSpPr>
          <p:cNvPr id="51" name="Text 48"/>
          <p:cNvSpPr/>
          <p:nvPr/>
        </p:nvSpPr>
        <p:spPr>
          <a:xfrm>
            <a:off x="6288286" y="1898005"/>
            <a:ext cx="1345027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Requirements addressed</a:t>
            </a:r>
            <a:endParaRPr lang="en-US" sz="650" dirty="0"/>
          </a:p>
        </p:txBody>
      </p:sp>
      <p:sp>
        <p:nvSpPr>
          <p:cNvPr id="52" name="Text 49"/>
          <p:cNvSpPr/>
          <p:nvPr/>
        </p:nvSpPr>
        <p:spPr>
          <a:xfrm>
            <a:off x="8270602" y="1898005"/>
            <a:ext cx="46693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 of 51</a:t>
            </a:r>
            <a:endParaRPr lang="en-US" sz="650" dirty="0"/>
          </a:p>
        </p:txBody>
      </p:sp>
      <p:sp>
        <p:nvSpPr>
          <p:cNvPr id="53" name="Shape 50"/>
          <p:cNvSpPr/>
          <p:nvPr/>
        </p:nvSpPr>
        <p:spPr>
          <a:xfrm>
            <a:off x="6289291" y="2041661"/>
            <a:ext cx="2295525" cy="381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54" name="Shape 51"/>
          <p:cNvSpPr/>
          <p:nvPr/>
        </p:nvSpPr>
        <p:spPr>
          <a:xfrm>
            <a:off x="6287430" y="2041661"/>
            <a:ext cx="1747838" cy="381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55" name="Text 52"/>
          <p:cNvSpPr/>
          <p:nvPr/>
        </p:nvSpPr>
        <p:spPr>
          <a:xfrm>
            <a:off x="6288286" y="2165300"/>
            <a:ext cx="84701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Gaps remaining</a:t>
            </a:r>
            <a:endParaRPr lang="en-US" sz="650" dirty="0"/>
          </a:p>
        </p:txBody>
      </p:sp>
      <p:sp>
        <p:nvSpPr>
          <p:cNvPr id="56" name="Text 53"/>
          <p:cNvSpPr/>
          <p:nvPr/>
        </p:nvSpPr>
        <p:spPr>
          <a:xfrm>
            <a:off x="7942064" y="2165300"/>
            <a:ext cx="89403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requirements</a:t>
            </a:r>
            <a:endParaRPr lang="en-US" sz="650" dirty="0"/>
          </a:p>
        </p:txBody>
      </p:sp>
      <p:sp>
        <p:nvSpPr>
          <p:cNvPr id="57" name="Text 54"/>
          <p:cNvSpPr/>
          <p:nvPr/>
        </p:nvSpPr>
        <p:spPr>
          <a:xfrm>
            <a:off x="6288286" y="2340173"/>
            <a:ext cx="46615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gap</a:t>
            </a:r>
            <a:endParaRPr lang="en-US" sz="650" dirty="0"/>
          </a:p>
        </p:txBody>
      </p:sp>
      <p:sp>
        <p:nvSpPr>
          <p:cNvPr id="58" name="Text 55"/>
          <p:cNvSpPr/>
          <p:nvPr/>
        </p:nvSpPr>
        <p:spPr>
          <a:xfrm>
            <a:off x="7837810" y="2340173"/>
            <a:ext cx="102956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 6.3 vuln mgmt</a:t>
            </a:r>
            <a:endParaRPr lang="en-US" sz="650" dirty="0"/>
          </a:p>
        </p:txBody>
      </p:sp>
      <p:sp>
        <p:nvSpPr>
          <p:cNvPr id="59" name="Text 56"/>
          <p:cNvSpPr/>
          <p:nvPr/>
        </p:nvSpPr>
        <p:spPr>
          <a:xfrm>
            <a:off x="6288286" y="2515046"/>
            <a:ext cx="792071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Sprint planned</a:t>
            </a:r>
            <a:endParaRPr lang="en-US" sz="650" dirty="0"/>
          </a:p>
        </p:txBody>
      </p:sp>
      <p:sp>
        <p:nvSpPr>
          <p:cNvPr id="60" name="Text 57"/>
          <p:cNvSpPr/>
          <p:nvPr/>
        </p:nvSpPr>
        <p:spPr>
          <a:xfrm>
            <a:off x="8062020" y="2515046"/>
            <a:ext cx="738091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August 2026</a:t>
            </a:r>
            <a:endParaRPr lang="en-US" sz="650" dirty="0"/>
          </a:p>
        </p:txBody>
      </p:sp>
      <p:sp>
        <p:nvSpPr>
          <p:cNvPr id="61" name="Shape 58"/>
          <p:cNvSpPr/>
          <p:nvPr/>
        </p:nvSpPr>
        <p:spPr>
          <a:xfrm>
            <a:off x="6289291" y="2705695"/>
            <a:ext cx="2295525" cy="366712"/>
          </a:xfrm>
          <a:prstGeom prst="roundRect">
            <a:avLst>
              <a:gd name="adj" fmla="val 12468"/>
            </a:avLst>
          </a:prstGeom>
          <a:solidFill>
            <a:srgbClr val="FEF2F2"/>
          </a:solidFill>
          <a:ln w="4763">
            <a:solidFill>
              <a:srgbClr val="FCA5A5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6384429" y="2782044"/>
            <a:ext cx="2440685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8"/>
              </a:lnSpc>
              <a:buNone/>
            </a:pPr>
            <a:r>
              <a:rPr lang="en-US" sz="61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Remediation sprint for Req 6.3 planned — owner:</a:t>
            </a:r>
            <a:endParaRPr lang="en-US" sz="610" dirty="0"/>
          </a:p>
          <a:p>
            <a:pPr algn="l" indent="0" marL="0">
              <a:lnSpc>
                <a:spcPts val="918"/>
              </a:lnSpc>
              <a:buNone/>
            </a:pPr>
            <a:r>
              <a:rPr lang="en-US" sz="61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 + AppSec</a:t>
            </a:r>
            <a:endParaRPr lang="en-US" sz="610" dirty="0"/>
          </a:p>
        </p:txBody>
      </p:sp>
      <p:sp>
        <p:nvSpPr>
          <p:cNvPr id="63" name="Shape 60"/>
          <p:cNvSpPr/>
          <p:nvPr/>
        </p:nvSpPr>
        <p:spPr>
          <a:xfrm>
            <a:off x="366713" y="4732772"/>
            <a:ext cx="8410575" cy="204787"/>
          </a:xfrm>
          <a:prstGeom prst="rect">
            <a:avLst/>
          </a:prstGeom>
          <a:ln/>
        </p:spPr>
      </p:sp>
      <p:sp>
        <p:nvSpPr>
          <p:cNvPr id="64" name="Text 61"/>
          <p:cNvSpPr/>
          <p:nvPr/>
        </p:nvSpPr>
        <p:spPr>
          <a:xfrm>
            <a:off x="365745" y="4823892"/>
            <a:ext cx="2336884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 Security Program — Confidential</a:t>
            </a:r>
            <a:endParaRPr lang="en-US" sz="650" dirty="0"/>
          </a:p>
        </p:txBody>
      </p:sp>
      <p:sp>
        <p:nvSpPr>
          <p:cNvPr id="65" name="Text 62"/>
          <p:cNvSpPr/>
          <p:nvPr/>
        </p:nvSpPr>
        <p:spPr>
          <a:xfrm>
            <a:off x="8514531" y="4823892"/>
            <a:ext cx="39999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of 10</a:t>
            </a:r>
            <a:endParaRPr lang="en-US" sz="650" dirty="0"/>
          </a:p>
        </p:txBody>
      </p:sp>
      <p:pic>
        <p:nvPicPr>
          <p:cNvPr id="6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713" y="205271"/>
            <a:ext cx="8410575" cy="309562"/>
          </a:xfrm>
          <a:prstGeom prst="rect">
            <a:avLst/>
          </a:prstGeom>
        </p:spPr>
      </p:pic>
      <p:pic>
        <p:nvPicPr>
          <p:cNvPr id="6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713" y="4732772"/>
            <a:ext cx="8410575" cy="20478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" name="Shape 1"/>
          <p:cNvSpPr/>
          <p:nvPr/>
        </p:nvSpPr>
        <p:spPr>
          <a:xfrm>
            <a:off x="366713" y="205271"/>
            <a:ext cx="8410575" cy="309562"/>
          </a:xfrm>
          <a:prstGeom prst="rect">
            <a:avLst/>
          </a:prstGeom>
          <a:ln/>
        </p:spPr>
      </p:sp>
      <p:sp>
        <p:nvSpPr>
          <p:cNvPr id="4" name="Shape 2"/>
          <p:cNvSpPr/>
          <p:nvPr/>
        </p:nvSpPr>
        <p:spPr>
          <a:xfrm>
            <a:off x="366303" y="206239"/>
            <a:ext cx="200025" cy="200025"/>
          </a:xfrm>
          <a:prstGeom prst="roundRect">
            <a:avLst>
              <a:gd name="adj" fmla="val 18286"/>
            </a:avLst>
          </a:prstGeom>
          <a:solidFill>
            <a:srgbClr val="0D948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0989" y="250924"/>
            <a:ext cx="110579" cy="11057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35" y="238199"/>
            <a:ext cx="123290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AppSec Program</a:t>
            </a:r>
            <a:endParaRPr lang="en-US" sz="860" dirty="0"/>
          </a:p>
        </p:txBody>
      </p:sp>
      <p:sp>
        <p:nvSpPr>
          <p:cNvPr id="7" name="Text 4"/>
          <p:cNvSpPr/>
          <p:nvPr/>
        </p:nvSpPr>
        <p:spPr>
          <a:xfrm>
            <a:off x="6869981" y="247204"/>
            <a:ext cx="167055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RISKS &amp; ACTION ITEMS</a:t>
            </a:r>
            <a:endParaRPr lang="en-US" sz="720" dirty="0"/>
          </a:p>
        </p:txBody>
      </p:sp>
      <p:sp>
        <p:nvSpPr>
          <p:cNvPr id="8" name="Text 5"/>
          <p:cNvSpPr/>
          <p:nvPr/>
        </p:nvSpPr>
        <p:spPr>
          <a:xfrm>
            <a:off x="8293894" y="247204"/>
            <a:ext cx="68681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JULY 2026</a:t>
            </a:r>
            <a:endParaRPr lang="en-US" sz="720" dirty="0"/>
          </a:p>
        </p:txBody>
      </p:sp>
      <p:sp>
        <p:nvSpPr>
          <p:cNvPr id="9" name="Text 6"/>
          <p:cNvSpPr/>
          <p:nvPr/>
        </p:nvSpPr>
        <p:spPr>
          <a:xfrm>
            <a:off x="365745" y="626790"/>
            <a:ext cx="989707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03"/>
              </a:spcAft>
              <a:buNone/>
            </a:pPr>
            <a:r>
              <a:rPr lang="en-US" sz="650" b="1" spc="65" kern="0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REGISTER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365745" y="747340"/>
            <a:ext cx="438019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Risks &amp; Action Items</a:t>
            </a:r>
            <a:endParaRPr lang="en-US" sz="2160" dirty="0"/>
          </a:p>
        </p:txBody>
      </p:sp>
      <p:sp>
        <p:nvSpPr>
          <p:cNvPr id="11" name="Text 8"/>
          <p:cNvSpPr/>
          <p:nvPr/>
        </p:nvSpPr>
        <p:spPr>
          <a:xfrm>
            <a:off x="530275" y="1180430"/>
            <a:ext cx="291644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" b="1" spc="43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</a:t>
            </a:r>
            <a:endParaRPr lang="en-US" sz="540" dirty="0"/>
          </a:p>
        </p:txBody>
      </p:sp>
      <p:sp>
        <p:nvSpPr>
          <p:cNvPr id="12" name="Text 9"/>
          <p:cNvSpPr/>
          <p:nvPr/>
        </p:nvSpPr>
        <p:spPr>
          <a:xfrm>
            <a:off x="3407420" y="1180430"/>
            <a:ext cx="432301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" b="1" spc="43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</a:t>
            </a:r>
            <a:endParaRPr lang="en-US" sz="540" dirty="0"/>
          </a:p>
        </p:txBody>
      </p:sp>
      <p:sp>
        <p:nvSpPr>
          <p:cNvPr id="13" name="Text 10"/>
          <p:cNvSpPr/>
          <p:nvPr/>
        </p:nvSpPr>
        <p:spPr>
          <a:xfrm>
            <a:off x="5736506" y="1180430"/>
            <a:ext cx="551773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" b="1" spc="43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DUE DATE</a:t>
            </a:r>
            <a:endParaRPr lang="en-US" sz="540" dirty="0"/>
          </a:p>
        </p:txBody>
      </p:sp>
      <p:sp>
        <p:nvSpPr>
          <p:cNvPr id="14" name="Text 11"/>
          <p:cNvSpPr/>
          <p:nvPr/>
        </p:nvSpPr>
        <p:spPr>
          <a:xfrm>
            <a:off x="7517681" y="1180430"/>
            <a:ext cx="533102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" b="1" spc="43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PRIORITY</a:t>
            </a:r>
            <a:endParaRPr lang="en-US" sz="540" dirty="0"/>
          </a:p>
        </p:txBody>
      </p:sp>
      <p:sp>
        <p:nvSpPr>
          <p:cNvPr id="15" name="Shape 12"/>
          <p:cNvSpPr/>
          <p:nvPr/>
        </p:nvSpPr>
        <p:spPr>
          <a:xfrm>
            <a:off x="366713" y="1377665"/>
            <a:ext cx="8410575" cy="409575"/>
          </a:xfrm>
          <a:prstGeom prst="roundRect">
            <a:avLst>
              <a:gd name="adj" fmla="val 13395"/>
            </a:avLst>
          </a:prstGeom>
          <a:solidFill>
            <a:srgbClr val="FFFAFA"/>
          </a:solidFill>
          <a:ln w="4763">
            <a:solidFill>
              <a:srgbClr val="FCA5A5"/>
            </a:solidFill>
            <a:prstDash val="solid"/>
          </a:ln>
          <a:effectLst>
            <a:outerShdw sx="100000" sy="100000" kx="0" ky="0" algn="bl" rotWithShape="0" blurRad="19050" dist="4763" dir="5400000">
              <a:srgbClr val="1E3A5F">
                <a:alpha val="4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35112" y="1463725"/>
            <a:ext cx="109537" cy="109537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7" name="Text 14"/>
          <p:cNvSpPr/>
          <p:nvPr/>
        </p:nvSpPr>
        <p:spPr>
          <a:xfrm>
            <a:off x="576709" y="1478682"/>
            <a:ext cx="91299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70" dirty="0"/>
          </a:p>
        </p:txBody>
      </p:sp>
      <p:sp>
        <p:nvSpPr>
          <p:cNvPr id="18" name="Text 15"/>
          <p:cNvSpPr/>
          <p:nvPr/>
        </p:nvSpPr>
        <p:spPr>
          <a:xfrm>
            <a:off x="717872" y="1462906"/>
            <a:ext cx="1937355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 Service critical exposure</a:t>
            </a:r>
            <a:endParaRPr lang="en-US" sz="680" dirty="0"/>
          </a:p>
        </p:txBody>
      </p:sp>
      <p:sp>
        <p:nvSpPr>
          <p:cNvPr id="19" name="Text 16"/>
          <p:cNvSpPr/>
          <p:nvPr/>
        </p:nvSpPr>
        <p:spPr>
          <a:xfrm>
            <a:off x="717872" y="1608534"/>
            <a:ext cx="2177847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Score 81 — 3 unpatched CVEs CVSS 9.1+</a:t>
            </a:r>
            <a:endParaRPr lang="en-US" sz="590" dirty="0"/>
          </a:p>
        </p:txBody>
      </p:sp>
      <p:sp>
        <p:nvSpPr>
          <p:cNvPr id="20" name="Text 17"/>
          <p:cNvSpPr/>
          <p:nvPr/>
        </p:nvSpPr>
        <p:spPr>
          <a:xfrm>
            <a:off x="3408759" y="1531665"/>
            <a:ext cx="1199532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Payment-service team</a:t>
            </a:r>
            <a:endParaRPr lang="en-US" sz="630" dirty="0"/>
          </a:p>
        </p:txBody>
      </p:sp>
      <p:sp>
        <p:nvSpPr>
          <p:cNvPr id="21" name="Text 18"/>
          <p:cNvSpPr/>
          <p:nvPr/>
        </p:nvSpPr>
        <p:spPr>
          <a:xfrm>
            <a:off x="5735166" y="1531665"/>
            <a:ext cx="336046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 1</a:t>
            </a:r>
            <a:endParaRPr lang="en-US" sz="630" dirty="0"/>
          </a:p>
        </p:txBody>
      </p:sp>
      <p:sp>
        <p:nvSpPr>
          <p:cNvPr id="22" name="Shape 19"/>
          <p:cNvSpPr/>
          <p:nvPr/>
        </p:nvSpPr>
        <p:spPr>
          <a:xfrm>
            <a:off x="7513886" y="1510978"/>
            <a:ext cx="1095375" cy="142875"/>
          </a:xfrm>
          <a:prstGeom prst="roundRect">
            <a:avLst>
              <a:gd name="adj" fmla="val 50000"/>
            </a:avLst>
          </a:prstGeom>
          <a:solidFill>
            <a:srgbClr val="DC2626">
              <a:alpha val="10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7862062" y="1535683"/>
            <a:ext cx="399023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9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</a:t>
            </a:r>
            <a:endParaRPr lang="en-US" sz="590" dirty="0"/>
          </a:p>
        </p:txBody>
      </p:sp>
      <p:sp>
        <p:nvSpPr>
          <p:cNvPr id="24" name="Shape 21"/>
          <p:cNvSpPr/>
          <p:nvPr/>
        </p:nvSpPr>
        <p:spPr>
          <a:xfrm>
            <a:off x="366713" y="1850938"/>
            <a:ext cx="8410575" cy="409575"/>
          </a:xfrm>
          <a:prstGeom prst="roundRect">
            <a:avLst>
              <a:gd name="adj" fmla="val 13395"/>
            </a:avLst>
          </a:prstGeom>
          <a:solidFill>
            <a:srgbClr val="FFFAFA"/>
          </a:solidFill>
          <a:ln w="4763">
            <a:solidFill>
              <a:srgbClr val="FCA5A5"/>
            </a:solidFill>
            <a:prstDash val="solid"/>
          </a:ln>
          <a:effectLst>
            <a:outerShdw sx="100000" sy="100000" kx="0" ky="0" algn="bl" rotWithShape="0" blurRad="19050" dist="4763" dir="5400000">
              <a:srgbClr val="1E3A5F">
                <a:alpha val="4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35112" y="1936998"/>
            <a:ext cx="109537" cy="109537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6" name="Text 23"/>
          <p:cNvSpPr/>
          <p:nvPr/>
        </p:nvSpPr>
        <p:spPr>
          <a:xfrm>
            <a:off x="570905" y="1951955"/>
            <a:ext cx="106390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70" dirty="0"/>
          </a:p>
        </p:txBody>
      </p:sp>
      <p:sp>
        <p:nvSpPr>
          <p:cNvPr id="27" name="Text 24"/>
          <p:cNvSpPr/>
          <p:nvPr/>
        </p:nvSpPr>
        <p:spPr>
          <a:xfrm>
            <a:off x="717872" y="1936179"/>
            <a:ext cx="2039027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 open-source surge +22% MoM</a:t>
            </a:r>
            <a:endParaRPr lang="en-US" sz="680" dirty="0"/>
          </a:p>
        </p:txBody>
      </p:sp>
      <p:sp>
        <p:nvSpPr>
          <p:cNvPr id="28" name="Text 25"/>
          <p:cNvSpPr/>
          <p:nvPr/>
        </p:nvSpPr>
        <p:spPr>
          <a:xfrm>
            <a:off x="717872" y="2081808"/>
            <a:ext cx="2435267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packages with CVSS ≥ 9.0 — upgrade PRs raised</a:t>
            </a:r>
            <a:endParaRPr lang="en-US" sz="590" dirty="0"/>
          </a:p>
        </p:txBody>
      </p:sp>
      <p:sp>
        <p:nvSpPr>
          <p:cNvPr id="29" name="Text 26"/>
          <p:cNvSpPr/>
          <p:nvPr/>
        </p:nvSpPr>
        <p:spPr>
          <a:xfrm>
            <a:off x="3408759" y="2004938"/>
            <a:ext cx="924409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security</a:t>
            </a:r>
            <a:endParaRPr lang="en-US" sz="630" dirty="0"/>
          </a:p>
        </p:txBody>
      </p:sp>
      <p:sp>
        <p:nvSpPr>
          <p:cNvPr id="30" name="Text 27"/>
          <p:cNvSpPr/>
          <p:nvPr/>
        </p:nvSpPr>
        <p:spPr>
          <a:xfrm>
            <a:off x="5735166" y="2004938"/>
            <a:ext cx="351718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 7</a:t>
            </a:r>
            <a:endParaRPr lang="en-US" sz="630" dirty="0"/>
          </a:p>
        </p:txBody>
      </p:sp>
      <p:sp>
        <p:nvSpPr>
          <p:cNvPr id="31" name="Shape 28"/>
          <p:cNvSpPr/>
          <p:nvPr/>
        </p:nvSpPr>
        <p:spPr>
          <a:xfrm>
            <a:off x="7513886" y="1984251"/>
            <a:ext cx="1095375" cy="142875"/>
          </a:xfrm>
          <a:prstGeom prst="roundRect">
            <a:avLst>
              <a:gd name="adj" fmla="val 50000"/>
            </a:avLst>
          </a:prstGeom>
          <a:solidFill>
            <a:srgbClr val="DC2626">
              <a:alpha val="1000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7862062" y="2008956"/>
            <a:ext cx="399023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9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</a:t>
            </a:r>
            <a:endParaRPr lang="en-US" sz="590" dirty="0"/>
          </a:p>
        </p:txBody>
      </p:sp>
      <p:sp>
        <p:nvSpPr>
          <p:cNvPr id="33" name="Shape 30"/>
          <p:cNvSpPr/>
          <p:nvPr/>
        </p:nvSpPr>
        <p:spPr>
          <a:xfrm>
            <a:off x="366713" y="2324212"/>
            <a:ext cx="8410575" cy="409575"/>
          </a:xfrm>
          <a:prstGeom prst="roundRect">
            <a:avLst>
              <a:gd name="adj" fmla="val 13395"/>
            </a:avLst>
          </a:prstGeom>
          <a:solidFill>
            <a:srgbClr val="FFFBF5"/>
          </a:solidFill>
          <a:ln w="4763">
            <a:solidFill>
              <a:srgbClr val="FED7AA"/>
            </a:solidFill>
            <a:prstDash val="solid"/>
          </a:ln>
          <a:effectLst>
            <a:outerShdw sx="100000" sy="100000" kx="0" ky="0" algn="bl" rotWithShape="0" blurRad="19050" dist="4763" dir="5400000">
              <a:srgbClr val="1E3A5F">
                <a:alpha val="4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535112" y="2410271"/>
            <a:ext cx="109537" cy="109537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35" name="Text 32"/>
          <p:cNvSpPr/>
          <p:nvPr/>
        </p:nvSpPr>
        <p:spPr>
          <a:xfrm>
            <a:off x="570309" y="2425229"/>
            <a:ext cx="107938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470" dirty="0"/>
          </a:p>
        </p:txBody>
      </p:sp>
      <p:sp>
        <p:nvSpPr>
          <p:cNvPr id="36" name="Text 33"/>
          <p:cNvSpPr/>
          <p:nvPr/>
        </p:nvSpPr>
        <p:spPr>
          <a:xfrm>
            <a:off x="717872" y="2409453"/>
            <a:ext cx="2399474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MTTR Critical SLA breaches (3 this month)</a:t>
            </a:r>
            <a:endParaRPr lang="en-US" sz="680" dirty="0"/>
          </a:p>
        </p:txBody>
      </p:sp>
      <p:sp>
        <p:nvSpPr>
          <p:cNvPr id="37" name="Text 34"/>
          <p:cNvSpPr/>
          <p:nvPr/>
        </p:nvSpPr>
        <p:spPr>
          <a:xfrm>
            <a:off x="717872" y="2555081"/>
            <a:ext cx="2089525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MTTR at 11 days vs 7-day SLA target</a:t>
            </a:r>
            <a:endParaRPr lang="en-US" sz="590" dirty="0"/>
          </a:p>
        </p:txBody>
      </p:sp>
      <p:sp>
        <p:nvSpPr>
          <p:cNvPr id="38" name="Text 35"/>
          <p:cNvSpPr/>
          <p:nvPr/>
        </p:nvSpPr>
        <p:spPr>
          <a:xfrm>
            <a:off x="3408759" y="2478212"/>
            <a:ext cx="1068742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AppSec + Eng leads</a:t>
            </a:r>
            <a:endParaRPr lang="en-US" sz="630" dirty="0"/>
          </a:p>
        </p:txBody>
      </p:sp>
      <p:sp>
        <p:nvSpPr>
          <p:cNvPr id="39" name="Text 36"/>
          <p:cNvSpPr/>
          <p:nvPr/>
        </p:nvSpPr>
        <p:spPr>
          <a:xfrm>
            <a:off x="5735166" y="2478212"/>
            <a:ext cx="492182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EA58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Ongoing</a:t>
            </a:r>
            <a:endParaRPr lang="en-US" sz="630" dirty="0"/>
          </a:p>
        </p:txBody>
      </p:sp>
      <p:sp>
        <p:nvSpPr>
          <p:cNvPr id="40" name="Shape 37"/>
          <p:cNvSpPr/>
          <p:nvPr/>
        </p:nvSpPr>
        <p:spPr>
          <a:xfrm>
            <a:off x="7513886" y="2457524"/>
            <a:ext cx="1095375" cy="142875"/>
          </a:xfrm>
          <a:prstGeom prst="roundRect">
            <a:avLst>
              <a:gd name="adj" fmla="val 50000"/>
            </a:avLst>
          </a:prstGeom>
          <a:solidFill>
            <a:srgbClr val="EA580C">
              <a:alpha val="10000"/>
            </a:srgbClr>
          </a:solidFill>
          <a:ln/>
        </p:spPr>
      </p:sp>
      <p:sp>
        <p:nvSpPr>
          <p:cNvPr id="41" name="Text 38"/>
          <p:cNvSpPr/>
          <p:nvPr/>
        </p:nvSpPr>
        <p:spPr>
          <a:xfrm>
            <a:off x="7922244" y="2482230"/>
            <a:ext cx="278584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90" b="1" dirty="0">
                <a:solidFill>
                  <a:srgbClr val="EA58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590" dirty="0"/>
          </a:p>
        </p:txBody>
      </p:sp>
      <p:sp>
        <p:nvSpPr>
          <p:cNvPr id="42" name="Shape 39"/>
          <p:cNvSpPr/>
          <p:nvPr/>
        </p:nvSpPr>
        <p:spPr>
          <a:xfrm>
            <a:off x="366713" y="2797485"/>
            <a:ext cx="8410575" cy="409575"/>
          </a:xfrm>
          <a:prstGeom prst="roundRect">
            <a:avLst>
              <a:gd name="adj" fmla="val 13395"/>
            </a:avLst>
          </a:prstGeom>
          <a:solidFill>
            <a:srgbClr val="FFFBF5"/>
          </a:solidFill>
          <a:ln w="4763">
            <a:solidFill>
              <a:srgbClr val="FED7AA"/>
            </a:solidFill>
            <a:prstDash val="solid"/>
          </a:ln>
          <a:effectLst>
            <a:outerShdw sx="100000" sy="100000" kx="0" ky="0" algn="bl" rotWithShape="0" blurRad="19050" dist="4763" dir="5400000">
              <a:srgbClr val="1E3A5F">
                <a:alpha val="4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535112" y="2883545"/>
            <a:ext cx="109537" cy="109537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44" name="Text 41"/>
          <p:cNvSpPr/>
          <p:nvPr/>
        </p:nvSpPr>
        <p:spPr>
          <a:xfrm>
            <a:off x="569416" y="2898502"/>
            <a:ext cx="110356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470" dirty="0"/>
          </a:p>
        </p:txBody>
      </p:sp>
      <p:sp>
        <p:nvSpPr>
          <p:cNvPr id="45" name="Text 42"/>
          <p:cNvSpPr/>
          <p:nvPr/>
        </p:nvSpPr>
        <p:spPr>
          <a:xfrm>
            <a:off x="717872" y="2882726"/>
            <a:ext cx="2456259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JWT algorithm confusion — patch in review</a:t>
            </a:r>
            <a:endParaRPr lang="en-US" sz="680" dirty="0"/>
          </a:p>
        </p:txBody>
      </p:sp>
      <p:sp>
        <p:nvSpPr>
          <p:cNvPr id="46" name="Text 43"/>
          <p:cNvSpPr/>
          <p:nvPr/>
        </p:nvSpPr>
        <p:spPr>
          <a:xfrm>
            <a:off x="717872" y="3028355"/>
            <a:ext cx="2215961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Pentest Critical #2 — auth token bypass vector</a:t>
            </a:r>
            <a:endParaRPr lang="en-US" sz="590" dirty="0"/>
          </a:p>
        </p:txBody>
      </p:sp>
      <p:sp>
        <p:nvSpPr>
          <p:cNvPr id="47" name="Text 44"/>
          <p:cNvSpPr/>
          <p:nvPr/>
        </p:nvSpPr>
        <p:spPr>
          <a:xfrm>
            <a:off x="3408759" y="2951485"/>
            <a:ext cx="508531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team</a:t>
            </a:r>
            <a:endParaRPr lang="en-US" sz="630" dirty="0"/>
          </a:p>
        </p:txBody>
      </p:sp>
      <p:sp>
        <p:nvSpPr>
          <p:cNvPr id="48" name="Text 45"/>
          <p:cNvSpPr/>
          <p:nvPr/>
        </p:nvSpPr>
        <p:spPr>
          <a:xfrm>
            <a:off x="5735166" y="2951485"/>
            <a:ext cx="370195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EA58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 28</a:t>
            </a:r>
            <a:endParaRPr lang="en-US" sz="630" dirty="0"/>
          </a:p>
        </p:txBody>
      </p:sp>
      <p:sp>
        <p:nvSpPr>
          <p:cNvPr id="49" name="Shape 46"/>
          <p:cNvSpPr/>
          <p:nvPr/>
        </p:nvSpPr>
        <p:spPr>
          <a:xfrm>
            <a:off x="7513886" y="2930798"/>
            <a:ext cx="1095375" cy="142875"/>
          </a:xfrm>
          <a:prstGeom prst="roundRect">
            <a:avLst>
              <a:gd name="adj" fmla="val 50000"/>
            </a:avLst>
          </a:prstGeom>
          <a:solidFill>
            <a:srgbClr val="EA580C">
              <a:alpha val="10000"/>
            </a:srgbClr>
          </a:solidFill>
          <a:ln/>
        </p:spPr>
      </p:sp>
      <p:sp>
        <p:nvSpPr>
          <p:cNvPr id="50" name="Text 47"/>
          <p:cNvSpPr/>
          <p:nvPr/>
        </p:nvSpPr>
        <p:spPr>
          <a:xfrm>
            <a:off x="7922244" y="2955503"/>
            <a:ext cx="278584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90" b="1" dirty="0">
                <a:solidFill>
                  <a:srgbClr val="EA58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590" dirty="0"/>
          </a:p>
        </p:txBody>
      </p:sp>
      <p:sp>
        <p:nvSpPr>
          <p:cNvPr id="51" name="Shape 48"/>
          <p:cNvSpPr/>
          <p:nvPr/>
        </p:nvSpPr>
        <p:spPr>
          <a:xfrm>
            <a:off x="366713" y="3270758"/>
            <a:ext cx="8410575" cy="409575"/>
          </a:xfrm>
          <a:prstGeom prst="roundRect">
            <a:avLst>
              <a:gd name="adj" fmla="val 13395"/>
            </a:avLst>
          </a:prstGeom>
          <a:solidFill>
            <a:srgbClr val="FEFDF5"/>
          </a:solidFill>
          <a:ln w="4763">
            <a:solidFill>
              <a:srgbClr val="FDE68A"/>
            </a:solidFill>
            <a:prstDash val="solid"/>
          </a:ln>
          <a:effectLst>
            <a:outerShdw sx="100000" sy="100000" kx="0" ky="0" algn="bl" rotWithShape="0" blurRad="19050" dist="4763" dir="5400000">
              <a:srgbClr val="1E3A5F">
                <a:alpha val="4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535112" y="3356818"/>
            <a:ext cx="109537" cy="109537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53" name="Text 50"/>
          <p:cNvSpPr/>
          <p:nvPr/>
        </p:nvSpPr>
        <p:spPr>
          <a:xfrm>
            <a:off x="571054" y="3371776"/>
            <a:ext cx="106100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470" dirty="0"/>
          </a:p>
        </p:txBody>
      </p:sp>
      <p:sp>
        <p:nvSpPr>
          <p:cNvPr id="54" name="Text 51"/>
          <p:cNvSpPr/>
          <p:nvPr/>
        </p:nvSpPr>
        <p:spPr>
          <a:xfrm>
            <a:off x="717872" y="3356000"/>
            <a:ext cx="188211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PCI DSS 4.0 Requirement 6.3 gap</a:t>
            </a:r>
            <a:endParaRPr lang="en-US" sz="680" dirty="0"/>
          </a:p>
        </p:txBody>
      </p:sp>
      <p:sp>
        <p:nvSpPr>
          <p:cNvPr id="55" name="Text 52"/>
          <p:cNvSpPr/>
          <p:nvPr/>
        </p:nvSpPr>
        <p:spPr>
          <a:xfrm>
            <a:off x="717872" y="3501628"/>
            <a:ext cx="2652348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Vulnerability management requirement — sprint planned</a:t>
            </a:r>
            <a:endParaRPr lang="en-US" sz="590" dirty="0"/>
          </a:p>
        </p:txBody>
      </p:sp>
      <p:sp>
        <p:nvSpPr>
          <p:cNvPr id="56" name="Text 53"/>
          <p:cNvSpPr/>
          <p:nvPr/>
        </p:nvSpPr>
        <p:spPr>
          <a:xfrm>
            <a:off x="3408759" y="3424758"/>
            <a:ext cx="1178250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 + AppSec</a:t>
            </a:r>
            <a:endParaRPr lang="en-US" sz="630" dirty="0"/>
          </a:p>
        </p:txBody>
      </p:sp>
      <p:sp>
        <p:nvSpPr>
          <p:cNvPr id="57" name="Text 54"/>
          <p:cNvSpPr/>
          <p:nvPr/>
        </p:nvSpPr>
        <p:spPr>
          <a:xfrm>
            <a:off x="5735166" y="3424758"/>
            <a:ext cx="403473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 31</a:t>
            </a:r>
            <a:endParaRPr lang="en-US" sz="630" dirty="0"/>
          </a:p>
        </p:txBody>
      </p:sp>
      <p:sp>
        <p:nvSpPr>
          <p:cNvPr id="58" name="Shape 55"/>
          <p:cNvSpPr/>
          <p:nvPr/>
        </p:nvSpPr>
        <p:spPr>
          <a:xfrm>
            <a:off x="7513886" y="3404071"/>
            <a:ext cx="1095375" cy="142875"/>
          </a:xfrm>
          <a:prstGeom prst="roundRect">
            <a:avLst>
              <a:gd name="adj" fmla="val 50000"/>
            </a:avLst>
          </a:prstGeom>
          <a:solidFill>
            <a:srgbClr val="B45309">
              <a:alpha val="10000"/>
            </a:srgbClr>
          </a:solidFill>
          <a:ln/>
        </p:spPr>
      </p:sp>
      <p:sp>
        <p:nvSpPr>
          <p:cNvPr id="59" name="Text 56"/>
          <p:cNvSpPr/>
          <p:nvPr/>
        </p:nvSpPr>
        <p:spPr>
          <a:xfrm>
            <a:off x="7839908" y="3428777"/>
            <a:ext cx="443329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9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</a:t>
            </a:r>
            <a:endParaRPr lang="en-US" sz="590" dirty="0"/>
          </a:p>
        </p:txBody>
      </p:sp>
      <p:sp>
        <p:nvSpPr>
          <p:cNvPr id="60" name="Shape 57"/>
          <p:cNvSpPr/>
          <p:nvPr/>
        </p:nvSpPr>
        <p:spPr>
          <a:xfrm>
            <a:off x="366713" y="4732772"/>
            <a:ext cx="8410575" cy="204787"/>
          </a:xfrm>
          <a:prstGeom prst="rect">
            <a:avLst/>
          </a:prstGeom>
          <a:ln/>
        </p:spPr>
      </p:sp>
      <p:sp>
        <p:nvSpPr>
          <p:cNvPr id="61" name="Text 58"/>
          <p:cNvSpPr/>
          <p:nvPr/>
        </p:nvSpPr>
        <p:spPr>
          <a:xfrm>
            <a:off x="365745" y="4823892"/>
            <a:ext cx="2336884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 Security Program — Confidential</a:t>
            </a:r>
            <a:endParaRPr lang="en-US" sz="650" dirty="0"/>
          </a:p>
        </p:txBody>
      </p:sp>
      <p:sp>
        <p:nvSpPr>
          <p:cNvPr id="62" name="Text 59"/>
          <p:cNvSpPr/>
          <p:nvPr/>
        </p:nvSpPr>
        <p:spPr>
          <a:xfrm>
            <a:off x="8514531" y="4823892"/>
            <a:ext cx="39999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of 10</a:t>
            </a:r>
            <a:endParaRPr lang="en-US" sz="650" dirty="0"/>
          </a:p>
        </p:txBody>
      </p:sp>
      <p:pic>
        <p:nvPicPr>
          <p:cNvPr id="6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713" y="205271"/>
            <a:ext cx="8410575" cy="309562"/>
          </a:xfrm>
          <a:prstGeom prst="rect">
            <a:avLst/>
          </a:prstGeom>
        </p:spPr>
      </p:pic>
      <p:pic>
        <p:nvPicPr>
          <p:cNvPr id="6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713" y="4732772"/>
            <a:ext cx="8410575" cy="20478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" name="Shape 1"/>
          <p:cNvSpPr/>
          <p:nvPr/>
        </p:nvSpPr>
        <p:spPr>
          <a:xfrm>
            <a:off x="366713" y="205271"/>
            <a:ext cx="8410575" cy="309562"/>
          </a:xfrm>
          <a:prstGeom prst="rect">
            <a:avLst/>
          </a:prstGeom>
          <a:ln/>
        </p:spPr>
      </p:sp>
      <p:sp>
        <p:nvSpPr>
          <p:cNvPr id="4" name="Shape 2"/>
          <p:cNvSpPr/>
          <p:nvPr/>
        </p:nvSpPr>
        <p:spPr>
          <a:xfrm>
            <a:off x="366303" y="206239"/>
            <a:ext cx="200025" cy="200025"/>
          </a:xfrm>
          <a:prstGeom prst="roundRect">
            <a:avLst>
              <a:gd name="adj" fmla="val 18286"/>
            </a:avLst>
          </a:prstGeom>
          <a:solidFill>
            <a:srgbClr val="0D948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0989" y="250924"/>
            <a:ext cx="110579" cy="11057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35" y="238199"/>
            <a:ext cx="123290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AppSec Program</a:t>
            </a:r>
            <a:endParaRPr lang="en-US" sz="860" dirty="0"/>
          </a:p>
        </p:txBody>
      </p:sp>
      <p:sp>
        <p:nvSpPr>
          <p:cNvPr id="7" name="Text 4"/>
          <p:cNvSpPr/>
          <p:nvPr/>
        </p:nvSpPr>
        <p:spPr>
          <a:xfrm>
            <a:off x="7206332" y="247204"/>
            <a:ext cx="123329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AUGUST PRIORITIES</a:t>
            </a:r>
            <a:endParaRPr lang="en-US" sz="720" dirty="0"/>
          </a:p>
        </p:txBody>
      </p:sp>
      <p:sp>
        <p:nvSpPr>
          <p:cNvPr id="8" name="Text 5"/>
          <p:cNvSpPr/>
          <p:nvPr/>
        </p:nvSpPr>
        <p:spPr>
          <a:xfrm>
            <a:off x="8293894" y="247204"/>
            <a:ext cx="68681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JULY 2026</a:t>
            </a:r>
            <a:endParaRPr lang="en-US" sz="720" dirty="0"/>
          </a:p>
        </p:txBody>
      </p:sp>
      <p:sp>
        <p:nvSpPr>
          <p:cNvPr id="9" name="Text 6"/>
          <p:cNvSpPr/>
          <p:nvPr/>
        </p:nvSpPr>
        <p:spPr>
          <a:xfrm>
            <a:off x="365745" y="626790"/>
            <a:ext cx="1093894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03"/>
              </a:spcAft>
              <a:buNone/>
            </a:pPr>
            <a:r>
              <a:rPr lang="en-US" sz="650" b="1" spc="65" kern="0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LOOKING AHEAD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365745" y="747340"/>
            <a:ext cx="510418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August Priorities &amp; Roadmap</a:t>
            </a:r>
            <a:endParaRPr lang="en-US" sz="2160" dirty="0"/>
          </a:p>
        </p:txBody>
      </p:sp>
      <p:sp>
        <p:nvSpPr>
          <p:cNvPr id="11" name="Shape 8"/>
          <p:cNvSpPr/>
          <p:nvPr/>
        </p:nvSpPr>
        <p:spPr>
          <a:xfrm>
            <a:off x="365261" y="1170273"/>
            <a:ext cx="4024312" cy="371475"/>
          </a:xfrm>
          <a:prstGeom prst="roundRect">
            <a:avLst>
              <a:gd name="adj" fmla="val 19692"/>
            </a:avLst>
          </a:prstGeom>
          <a:solidFill>
            <a:srgbClr val="1E3A5F"/>
          </a:solidFill>
          <a:ln/>
        </p:spPr>
      </p:sp>
      <p:sp>
        <p:nvSpPr>
          <p:cNvPr id="12" name="Shape 9"/>
          <p:cNvSpPr/>
          <p:nvPr/>
        </p:nvSpPr>
        <p:spPr>
          <a:xfrm>
            <a:off x="547501" y="1272667"/>
            <a:ext cx="166688" cy="166688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564" y="1310729"/>
            <a:ext cx="90488" cy="904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86259" y="1294805"/>
            <a:ext cx="1516640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Immediate — Week 1–2</a:t>
            </a:r>
            <a:endParaRPr lang="en-US" sz="790" dirty="0"/>
          </a:p>
        </p:txBody>
      </p:sp>
      <p:sp>
        <p:nvSpPr>
          <p:cNvPr id="15" name="Shape 11"/>
          <p:cNvSpPr/>
          <p:nvPr/>
        </p:nvSpPr>
        <p:spPr>
          <a:xfrm>
            <a:off x="365261" y="1618097"/>
            <a:ext cx="4024312" cy="723900"/>
          </a:xfrm>
          <a:prstGeom prst="roundRect">
            <a:avLst>
              <a:gd name="adj" fmla="val 10105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47625" dist="9525" dir="5400000">
              <a:srgbClr val="1E3A5F">
                <a:alpha val="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52190" y="1755465"/>
            <a:ext cx="57150" cy="5715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3"/>
          <p:cNvSpPr/>
          <p:nvPr/>
        </p:nvSpPr>
        <p:spPr>
          <a:xfrm>
            <a:off x="681335" y="1730573"/>
            <a:ext cx="2609106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 patch for JWT algorithm confusion finding</a:t>
            </a:r>
            <a:endParaRPr lang="en-US" sz="680" dirty="0"/>
          </a:p>
        </p:txBody>
      </p:sp>
      <p:sp>
        <p:nvSpPr>
          <p:cNvPr id="18" name="Shape 14"/>
          <p:cNvSpPr/>
          <p:nvPr/>
        </p:nvSpPr>
        <p:spPr>
          <a:xfrm>
            <a:off x="552190" y="1948942"/>
            <a:ext cx="57150" cy="5715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5"/>
          <p:cNvSpPr/>
          <p:nvPr/>
        </p:nvSpPr>
        <p:spPr>
          <a:xfrm>
            <a:off x="681335" y="1924050"/>
            <a:ext cx="2259784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Upgrade all 8 CVSS ≥ 9.0 SCA packages</a:t>
            </a:r>
            <a:endParaRPr lang="en-US" sz="680" dirty="0"/>
          </a:p>
        </p:txBody>
      </p:sp>
      <p:sp>
        <p:nvSpPr>
          <p:cNvPr id="20" name="Shape 16"/>
          <p:cNvSpPr/>
          <p:nvPr/>
        </p:nvSpPr>
        <p:spPr>
          <a:xfrm>
            <a:off x="552190" y="2142418"/>
            <a:ext cx="57150" cy="5715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7"/>
          <p:cNvSpPr/>
          <p:nvPr/>
        </p:nvSpPr>
        <p:spPr>
          <a:xfrm>
            <a:off x="681335" y="2117527"/>
            <a:ext cx="2383319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Payment-service remediation sprint kickoff</a:t>
            </a:r>
            <a:endParaRPr lang="en-US" sz="680" dirty="0"/>
          </a:p>
        </p:txBody>
      </p:sp>
      <p:sp>
        <p:nvSpPr>
          <p:cNvPr id="22" name="Shape 18"/>
          <p:cNvSpPr/>
          <p:nvPr/>
        </p:nvSpPr>
        <p:spPr>
          <a:xfrm>
            <a:off x="4754389" y="1170273"/>
            <a:ext cx="4024312" cy="371475"/>
          </a:xfrm>
          <a:prstGeom prst="roundRect">
            <a:avLst>
              <a:gd name="adj" fmla="val 19692"/>
            </a:avLst>
          </a:prstGeom>
          <a:solidFill>
            <a:srgbClr val="0D4A6E"/>
          </a:solidFill>
          <a:ln/>
        </p:spPr>
      </p:sp>
      <p:sp>
        <p:nvSpPr>
          <p:cNvPr id="23" name="Shape 19"/>
          <p:cNvSpPr/>
          <p:nvPr/>
        </p:nvSpPr>
        <p:spPr>
          <a:xfrm>
            <a:off x="4936592" y="1272667"/>
            <a:ext cx="166688" cy="166688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4654" y="1310729"/>
            <a:ext cx="90488" cy="9048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175349" y="1294805"/>
            <a:ext cx="1498163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— Full Month</a:t>
            </a:r>
            <a:endParaRPr lang="en-US" sz="790" dirty="0"/>
          </a:p>
        </p:txBody>
      </p:sp>
      <p:sp>
        <p:nvSpPr>
          <p:cNvPr id="26" name="Shape 21"/>
          <p:cNvSpPr/>
          <p:nvPr/>
        </p:nvSpPr>
        <p:spPr>
          <a:xfrm>
            <a:off x="4754389" y="1617204"/>
            <a:ext cx="4024312" cy="919162"/>
          </a:xfrm>
          <a:prstGeom prst="roundRect">
            <a:avLst>
              <a:gd name="adj" fmla="val 7959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sx="100000" sy="100000" kx="0" ky="0" algn="bl" rotWithShape="0" blurRad="47625" dist="9525" dir="5400000">
              <a:srgbClr val="1E3A5F">
                <a:alpha val="6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941280" y="1755465"/>
            <a:ext cx="57150" cy="5715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8" name="Text 23"/>
          <p:cNvSpPr/>
          <p:nvPr/>
        </p:nvSpPr>
        <p:spPr>
          <a:xfrm>
            <a:off x="5070425" y="1730573"/>
            <a:ext cx="326537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DAST to 2 additional microservices (checkout, auth)</a:t>
            </a:r>
            <a:endParaRPr lang="en-US" sz="680" dirty="0"/>
          </a:p>
        </p:txBody>
      </p:sp>
      <p:sp>
        <p:nvSpPr>
          <p:cNvPr id="29" name="Shape 24"/>
          <p:cNvSpPr/>
          <p:nvPr/>
        </p:nvSpPr>
        <p:spPr>
          <a:xfrm>
            <a:off x="4941280" y="1948942"/>
            <a:ext cx="57150" cy="5715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0" name="Text 25"/>
          <p:cNvSpPr/>
          <p:nvPr/>
        </p:nvSpPr>
        <p:spPr>
          <a:xfrm>
            <a:off x="5070425" y="1924050"/>
            <a:ext cx="3763194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 AppSec champions program — 6 engineering teams enrolled</a:t>
            </a:r>
            <a:endParaRPr lang="en-US" sz="680" dirty="0"/>
          </a:p>
        </p:txBody>
      </p:sp>
      <p:sp>
        <p:nvSpPr>
          <p:cNvPr id="31" name="Shape 26"/>
          <p:cNvSpPr/>
          <p:nvPr/>
        </p:nvSpPr>
        <p:spPr>
          <a:xfrm>
            <a:off x="4941280" y="2142418"/>
            <a:ext cx="57150" cy="5715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2" name="Text 27"/>
          <p:cNvSpPr/>
          <p:nvPr/>
        </p:nvSpPr>
        <p:spPr>
          <a:xfrm>
            <a:off x="5070425" y="2117527"/>
            <a:ext cx="200217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PCI 6.3 remediation sprint</a:t>
            </a:r>
            <a:endParaRPr lang="en-US" sz="680" dirty="0"/>
          </a:p>
        </p:txBody>
      </p:sp>
      <p:sp>
        <p:nvSpPr>
          <p:cNvPr id="33" name="Shape 28"/>
          <p:cNvSpPr/>
          <p:nvPr/>
        </p:nvSpPr>
        <p:spPr>
          <a:xfrm>
            <a:off x="4941280" y="2335895"/>
            <a:ext cx="57150" cy="5715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4" name="Text 29"/>
          <p:cNvSpPr/>
          <p:nvPr/>
        </p:nvSpPr>
        <p:spPr>
          <a:xfrm>
            <a:off x="5070425" y="2311003"/>
            <a:ext cx="2343076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 27001 surveillance audit prep (Aug 14)</a:t>
            </a:r>
            <a:endParaRPr lang="en-US" sz="680" dirty="0"/>
          </a:p>
        </p:txBody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713" y="4001691"/>
            <a:ext cx="8410575" cy="62865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40035" y="4267274"/>
            <a:ext cx="1467884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b="1" spc="49" kern="0" dirty="0">
                <a:solidFill>
                  <a:srgbClr val="FEFE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TARGETS FOR NEXT MBR</a:t>
            </a:r>
            <a:endParaRPr lang="en-US" sz="610" dirty="0"/>
          </a:p>
        </p:txBody>
      </p:sp>
      <p:sp>
        <p:nvSpPr>
          <p:cNvPr id="37" name="Text 31"/>
          <p:cNvSpPr/>
          <p:nvPr/>
        </p:nvSpPr>
        <p:spPr>
          <a:xfrm>
            <a:off x="4904873" y="4133776"/>
            <a:ext cx="672889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≤ 58</a:t>
            </a:r>
            <a:endParaRPr lang="en-US" sz="1580" dirty="0"/>
          </a:p>
        </p:txBody>
      </p:sp>
      <p:sp>
        <p:nvSpPr>
          <p:cNvPr id="38" name="Text 32"/>
          <p:cNvSpPr/>
          <p:nvPr/>
        </p:nvSpPr>
        <p:spPr>
          <a:xfrm>
            <a:off x="4829610" y="4426669"/>
            <a:ext cx="823414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Bef>
                <a:spcPts val="81"/>
              </a:spcBef>
              <a:buNone/>
            </a:pPr>
            <a:r>
              <a:rPr lang="en-US" sz="580" dirty="0">
                <a:solidFill>
                  <a:srgbClr val="FEFE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Score target</a:t>
            </a:r>
            <a:endParaRPr lang="en-US" sz="580" dirty="0"/>
          </a:p>
        </p:txBody>
      </p:sp>
      <p:sp>
        <p:nvSpPr>
          <p:cNvPr id="39" name="Shape 33"/>
          <p:cNvSpPr/>
          <p:nvPr/>
        </p:nvSpPr>
        <p:spPr>
          <a:xfrm>
            <a:off x="5901779" y="4104084"/>
            <a:ext cx="4763" cy="423862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40" name="Text 34"/>
          <p:cNvSpPr/>
          <p:nvPr/>
        </p:nvSpPr>
        <p:spPr>
          <a:xfrm>
            <a:off x="6189442" y="4133776"/>
            <a:ext cx="947336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≥ 93%</a:t>
            </a:r>
            <a:endParaRPr lang="en-US" sz="1580" dirty="0"/>
          </a:p>
        </p:txBody>
      </p:sp>
      <p:sp>
        <p:nvSpPr>
          <p:cNvPr id="41" name="Text 35"/>
          <p:cNvSpPr/>
          <p:nvPr/>
        </p:nvSpPr>
        <p:spPr>
          <a:xfrm>
            <a:off x="6126454" y="4426669"/>
            <a:ext cx="1073386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Bef>
                <a:spcPts val="81"/>
              </a:spcBef>
              <a:buNone/>
            </a:pPr>
            <a:r>
              <a:rPr lang="en-US" sz="580" dirty="0">
                <a:solidFill>
                  <a:srgbClr val="FEFE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SLA compliance target</a:t>
            </a:r>
            <a:endParaRPr lang="en-US" sz="580" dirty="0"/>
          </a:p>
        </p:txBody>
      </p:sp>
      <p:sp>
        <p:nvSpPr>
          <p:cNvPr id="42" name="Shape 36"/>
          <p:cNvSpPr/>
          <p:nvPr/>
        </p:nvSpPr>
        <p:spPr>
          <a:xfrm>
            <a:off x="7419752" y="4104084"/>
            <a:ext cx="4763" cy="423862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43" name="Text 37"/>
          <p:cNvSpPr/>
          <p:nvPr/>
        </p:nvSpPr>
        <p:spPr>
          <a:xfrm>
            <a:off x="7674944" y="4133776"/>
            <a:ext cx="944337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 14</a:t>
            </a:r>
            <a:endParaRPr lang="en-US" sz="1580" dirty="0"/>
          </a:p>
        </p:txBody>
      </p:sp>
      <p:sp>
        <p:nvSpPr>
          <p:cNvPr id="44" name="Text 38"/>
          <p:cNvSpPr/>
          <p:nvPr/>
        </p:nvSpPr>
        <p:spPr>
          <a:xfrm>
            <a:off x="7654629" y="4426669"/>
            <a:ext cx="984967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Bef>
                <a:spcPts val="81"/>
              </a:spcBef>
              <a:buNone/>
            </a:pPr>
            <a:r>
              <a:rPr lang="en-US" sz="580" dirty="0">
                <a:solidFill>
                  <a:srgbClr val="FEFE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 27001 audit date</a:t>
            </a:r>
            <a:endParaRPr lang="en-US" sz="580" dirty="0"/>
          </a:p>
        </p:txBody>
      </p:sp>
      <p:sp>
        <p:nvSpPr>
          <p:cNvPr id="45" name="Shape 39"/>
          <p:cNvSpPr/>
          <p:nvPr/>
        </p:nvSpPr>
        <p:spPr>
          <a:xfrm>
            <a:off x="366713" y="4732772"/>
            <a:ext cx="8410575" cy="204787"/>
          </a:xfrm>
          <a:prstGeom prst="rect">
            <a:avLst/>
          </a:prstGeom>
          <a:ln/>
        </p:spPr>
      </p:sp>
      <p:sp>
        <p:nvSpPr>
          <p:cNvPr id="46" name="Text 40"/>
          <p:cNvSpPr/>
          <p:nvPr/>
        </p:nvSpPr>
        <p:spPr>
          <a:xfrm>
            <a:off x="365745" y="4823892"/>
            <a:ext cx="2336884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 Security Program — Confidential</a:t>
            </a:r>
            <a:endParaRPr lang="en-US" sz="650" dirty="0"/>
          </a:p>
        </p:txBody>
      </p:sp>
      <p:sp>
        <p:nvSpPr>
          <p:cNvPr id="47" name="Text 41"/>
          <p:cNvSpPr/>
          <p:nvPr/>
        </p:nvSpPr>
        <p:spPr>
          <a:xfrm>
            <a:off x="8479110" y="4823892"/>
            <a:ext cx="44603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of 10</a:t>
            </a:r>
            <a:endParaRPr lang="en-US" sz="650" dirty="0"/>
          </a:p>
        </p:txBody>
      </p:sp>
      <p:pic>
        <p:nvPicPr>
          <p:cNvPr id="48" name="Image 4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6713" y="205271"/>
            <a:ext cx="8410575" cy="309562"/>
          </a:xfrm>
          <a:prstGeom prst="rect">
            <a:avLst/>
          </a:prstGeom>
        </p:spPr>
      </p:pic>
      <p:pic>
        <p:nvPicPr>
          <p:cNvPr id="49" name="Image 5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6713" y="4732772"/>
            <a:ext cx="8410575" cy="20478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2026-07-25T17:42:38Z</dcterms:created>
  <dcterms:modified xsi:type="dcterms:W3CDTF">2026-07-25T17:42:38Z</dcterms:modified>
</cp:coreProperties>
</file>